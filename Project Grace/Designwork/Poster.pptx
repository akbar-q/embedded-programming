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0002"/>
    <a:srgbClr val="310000"/>
    <a:srgbClr val="D0382C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255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7426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4250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9077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214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018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6230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6326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58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635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3306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1805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7C0E0-35F2-4DDC-9CCC-2064BEF6E94C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5B26E-3CF2-4C48-90B1-3DCAE25F9F1F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741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6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5" Type="http://schemas.openxmlformats.org/officeDocument/2006/relationships/image" Target="../media/image9.png"/><Relationship Id="rId10" Type="http://schemas.microsoft.com/office/2007/relationships/hdphoto" Target="../media/hdphoto3.wdp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FA8143B5-0C9C-9C62-BF02-4FB5CD576B12}"/>
              </a:ext>
            </a:extLst>
          </p:cNvPr>
          <p:cNvSpPr/>
          <p:nvPr/>
        </p:nvSpPr>
        <p:spPr>
          <a:xfrm>
            <a:off x="6709739" y="7609277"/>
            <a:ext cx="2824674" cy="5088909"/>
          </a:xfrm>
          <a:prstGeom prst="rect">
            <a:avLst/>
          </a:prstGeom>
          <a:solidFill>
            <a:srgbClr val="240002"/>
          </a:solidFill>
          <a:ln>
            <a:solidFill>
              <a:srgbClr val="24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E9EC04-F545-A842-B31F-C31FEB9774DA}"/>
              </a:ext>
            </a:extLst>
          </p:cNvPr>
          <p:cNvSpPr/>
          <p:nvPr/>
        </p:nvSpPr>
        <p:spPr>
          <a:xfrm>
            <a:off x="6709741" y="1259349"/>
            <a:ext cx="2824674" cy="6266072"/>
          </a:xfrm>
          <a:prstGeom prst="rect">
            <a:avLst/>
          </a:prstGeom>
          <a:solidFill>
            <a:srgbClr val="240002"/>
          </a:solidFill>
          <a:ln>
            <a:solidFill>
              <a:srgbClr val="24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FEA2729-3653-5AB5-6D18-EFBFFD9161A6}"/>
              </a:ext>
            </a:extLst>
          </p:cNvPr>
          <p:cNvSpPr/>
          <p:nvPr/>
        </p:nvSpPr>
        <p:spPr>
          <a:xfrm>
            <a:off x="96210" y="9644744"/>
            <a:ext cx="6512269" cy="3053442"/>
          </a:xfrm>
          <a:prstGeom prst="rect">
            <a:avLst/>
          </a:prstGeom>
          <a:solidFill>
            <a:srgbClr val="240002"/>
          </a:solidFill>
          <a:ln>
            <a:solidFill>
              <a:srgbClr val="24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6D13FC-60A9-96AD-1B2F-1D13048FC3A0}"/>
              </a:ext>
            </a:extLst>
          </p:cNvPr>
          <p:cNvSpPr/>
          <p:nvPr/>
        </p:nvSpPr>
        <p:spPr>
          <a:xfrm>
            <a:off x="96211" y="6265690"/>
            <a:ext cx="2366112" cy="3268381"/>
          </a:xfrm>
          <a:prstGeom prst="rect">
            <a:avLst/>
          </a:prstGeom>
          <a:solidFill>
            <a:srgbClr val="240002"/>
          </a:solidFill>
          <a:ln>
            <a:solidFill>
              <a:srgbClr val="24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B54C01-4756-F4AC-1B49-FAC652EAE1A3}"/>
              </a:ext>
            </a:extLst>
          </p:cNvPr>
          <p:cNvSpPr/>
          <p:nvPr/>
        </p:nvSpPr>
        <p:spPr>
          <a:xfrm>
            <a:off x="96211" y="1259349"/>
            <a:ext cx="2366112" cy="4860557"/>
          </a:xfrm>
          <a:prstGeom prst="rect">
            <a:avLst/>
          </a:prstGeom>
          <a:solidFill>
            <a:srgbClr val="240002"/>
          </a:solidFill>
          <a:ln>
            <a:solidFill>
              <a:srgbClr val="2400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068EF-DC71-2F08-9B46-321BD7B7B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262" y="1605722"/>
            <a:ext cx="3629210" cy="6654858"/>
          </a:xfrm>
          <a:prstGeom prst="rect">
            <a:avLst/>
          </a:prstGeom>
        </p:spPr>
      </p:pic>
      <p:pic>
        <p:nvPicPr>
          <p:cNvPr id="7" name="Picture 6" descr="Institution of Mechanical Engineers - PastView">
            <a:extLst>
              <a:ext uri="{FF2B5EF4-FFF2-40B4-BE49-F238E27FC236}">
                <a16:creationId xmlns:a16="http://schemas.microsoft.com/office/drawing/2014/main" id="{75793035-D90F-53CF-12A2-8F42C72C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7402"/>
            <a:ext cx="3458029" cy="13209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23AC6D-6668-62BC-671A-906AE99E0EAA}"/>
              </a:ext>
            </a:extLst>
          </p:cNvPr>
          <p:cNvSpPr txBox="1"/>
          <p:nvPr/>
        </p:nvSpPr>
        <p:spPr>
          <a:xfrm>
            <a:off x="-97971" y="37582"/>
            <a:ext cx="9357360" cy="830997"/>
          </a:xfrm>
          <a:prstGeom prst="rect">
            <a:avLst/>
          </a:prstGeom>
          <a:noFill/>
        </p:spPr>
        <p:txBody>
          <a:bodyPr wrap="square" lIns="72000" rtlCol="0">
            <a:spAutoFit/>
          </a:bodyPr>
          <a:lstStyle/>
          <a:p>
            <a:pPr algn="r"/>
            <a:r>
              <a:rPr lang="en-GB" sz="4800" i="1" dirty="0">
                <a:solidFill>
                  <a:schemeClr val="bg1"/>
                </a:solidFill>
                <a:latin typeface="Felix Titling" panose="04060505060202020A04" pitchFamily="82" charset="0"/>
              </a:rPr>
              <a:t>Project Grace</a:t>
            </a:r>
            <a:endParaRPr lang="en-AE" sz="4800" i="1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B9B0BA-82CB-C1E9-33CA-A28FA7405A86}"/>
              </a:ext>
            </a:extLst>
          </p:cNvPr>
          <p:cNvCxnSpPr>
            <a:cxnSpLocks/>
          </p:cNvCxnSpPr>
          <p:nvPr/>
        </p:nvCxnSpPr>
        <p:spPr>
          <a:xfrm flipH="1">
            <a:off x="2820761" y="0"/>
            <a:ext cx="637268" cy="1113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B8E4BB-6A8E-DED8-D703-A617AFE5DA85}"/>
              </a:ext>
            </a:extLst>
          </p:cNvPr>
          <p:cNvCxnSpPr>
            <a:cxnSpLocks/>
          </p:cNvCxnSpPr>
          <p:nvPr/>
        </p:nvCxnSpPr>
        <p:spPr>
          <a:xfrm flipH="1">
            <a:off x="2990850" y="0"/>
            <a:ext cx="637268" cy="1113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6DFE28-7FD7-A833-F4C4-98E331BF9E21}"/>
              </a:ext>
            </a:extLst>
          </p:cNvPr>
          <p:cNvCxnSpPr>
            <a:cxnSpLocks/>
          </p:cNvCxnSpPr>
          <p:nvPr/>
        </p:nvCxnSpPr>
        <p:spPr>
          <a:xfrm flipH="1">
            <a:off x="3139395" y="0"/>
            <a:ext cx="637268" cy="1113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8E169A-90C8-270B-B0E4-588053192B52}"/>
              </a:ext>
            </a:extLst>
          </p:cNvPr>
          <p:cNvCxnSpPr>
            <a:cxnSpLocks/>
          </p:cNvCxnSpPr>
          <p:nvPr/>
        </p:nvCxnSpPr>
        <p:spPr>
          <a:xfrm flipH="1">
            <a:off x="3309484" y="0"/>
            <a:ext cx="637268" cy="1113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4FFED4-78DB-8895-B958-EF2DA68DF4C1}"/>
              </a:ext>
            </a:extLst>
          </p:cNvPr>
          <p:cNvCxnSpPr>
            <a:cxnSpLocks/>
          </p:cNvCxnSpPr>
          <p:nvPr/>
        </p:nvCxnSpPr>
        <p:spPr>
          <a:xfrm flipH="1">
            <a:off x="3458029" y="-490"/>
            <a:ext cx="637268" cy="111356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ED99E4-CF48-086C-24EE-B0AAB485C3B6}"/>
              </a:ext>
            </a:extLst>
          </p:cNvPr>
          <p:cNvSpPr txBox="1"/>
          <p:nvPr/>
        </p:nvSpPr>
        <p:spPr>
          <a:xfrm>
            <a:off x="3776663" y="806161"/>
            <a:ext cx="5622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AE" sz="18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A compliant robot designed to climb a vertical pipe</a:t>
            </a:r>
            <a:endParaRPr lang="en-AE" sz="1200" b="1" i="0" dirty="0">
              <a:solidFill>
                <a:schemeClr val="bg1"/>
              </a:solidFill>
              <a:effectLst/>
              <a:latin typeface="Avenir Next LT Pro Light" panose="020B03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4A0443-6E60-F55F-0159-5552ACDF9AA2}"/>
              </a:ext>
            </a:extLst>
          </p:cNvPr>
          <p:cNvSpPr txBox="1"/>
          <p:nvPr/>
        </p:nvSpPr>
        <p:spPr>
          <a:xfrm>
            <a:off x="96211" y="1259349"/>
            <a:ext cx="2366112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AE" sz="1400" b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The Design</a:t>
            </a:r>
          </a:p>
          <a:p>
            <a:pPr marL="0" marR="0" indent="0" algn="just">
              <a:spcAft>
                <a:spcPts val="1200"/>
              </a:spcAft>
              <a:buNone/>
            </a:pP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Four motor arms extend from a central electronics plate. Paired accordion flexures and outer zig-zag springs allow controlled movement, while motor holders and braces carry loads where stiffness is needed. The frame is designed around a 22 mm pipe and printed in PETG.</a:t>
            </a:r>
          </a:p>
          <a:p>
            <a:pPr marL="0" marR="0" indent="0" algn="just">
              <a:spcAft>
                <a:spcPts val="1200"/>
              </a:spcAft>
              <a:buNone/>
            </a:pP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Four N20 gearmotors drive four custom twin-tire wheels, providing eight rubber tyre contact bands. The custom wheel bodies retain the supplied rubber tyres and transfer motor torque through a D-shaped shaft bore.</a:t>
            </a:r>
            <a:endParaRPr lang="en-AE" sz="800" b="0" i="0" dirty="0">
              <a:solidFill>
                <a:schemeClr val="bg1"/>
              </a:solidFill>
              <a:effectLst/>
              <a:latin typeface="Avenir Next LT Pro Light" panose="020B0304020202020204" pitchFamily="34" charset="0"/>
            </a:endParaRPr>
          </a:p>
        </p:txBody>
      </p:sp>
      <p:pic>
        <p:nvPicPr>
          <p:cNvPr id="26" name="Picture 25" descr="Frame Overlay PNGs for Free Download">
            <a:extLst>
              <a:ext uri="{FF2B5EF4-FFF2-40B4-BE49-F238E27FC236}">
                <a16:creationId xmlns:a16="http://schemas.microsoft.com/office/drawing/2014/main" id="{B44B57C4-7913-96F2-9C69-11ACAF327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1005765" y="2730988"/>
            <a:ext cx="7101683" cy="404489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BED2455-6DF3-7D18-9E2C-6DE5E5764FE7}"/>
              </a:ext>
            </a:extLst>
          </p:cNvPr>
          <p:cNvSpPr txBox="1"/>
          <p:nvPr/>
        </p:nvSpPr>
        <p:spPr>
          <a:xfrm>
            <a:off x="132038" y="10211444"/>
            <a:ext cx="626327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Key Dimensions</a:t>
            </a:r>
          </a:p>
          <a:p>
            <a:endParaRPr lang="en-AE" sz="1400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Pipe diameter: 22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V7 centre plate height: 108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Arm length: 92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CAD target wheel-hub spacing: 43.2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N20 motor envelope: 45.7 × 15.23 × 11.82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Motor cradle clear length: 47.7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Custom wheel tyre-seat ledge diameter: 31.88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Custom wheel width: 22 mm</a:t>
            </a:r>
          </a:p>
          <a:p>
            <a:r>
              <a:rPr lang="en-AE" sz="1400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D-shaft: 2.85 mm diameter, with CAD print clearance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0C75BD-C01D-4C1F-C0AF-416B90169F3D}"/>
              </a:ext>
            </a:extLst>
          </p:cNvPr>
          <p:cNvSpPr txBox="1"/>
          <p:nvPr/>
        </p:nvSpPr>
        <p:spPr>
          <a:xfrm>
            <a:off x="4294414" y="584290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63C78D-0E5C-3EC5-ACC8-8AD143191B7E}"/>
                  </a:ext>
                </a:extLst>
              </p:cNvPr>
              <p:cNvSpPr txBox="1"/>
              <p:nvPr/>
            </p:nvSpPr>
            <p:spPr>
              <a:xfrm>
                <a:off x="2563583" y="9665846"/>
                <a:ext cx="4032386" cy="17767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AE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𝐺𝑒𝑜𝑚𝑒𝑡𝑟𝑦𝐶𝑎𝑙𝑐𝑢𝑙𝑎𝑡𝑖𝑜𝑛𝑠</m:t>
                      </m:r>
                      <m:r>
                        <a:rPr lang="en-AE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GB" sz="1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endParaRPr lang="en-GB" sz="1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AE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𝑊ℎ𝑒𝑒𝑙</m:t>
                      </m:r>
                      <m:r>
                        <a:rPr lang="en-AE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E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ℎ𝑢𝑏𝑠𝑝𝑎𝑐𝑖𝑛</m:t>
                      </m:r>
                      <m:r>
                        <m:rPr>
                          <m:sty m:val="p"/>
                        </m:rP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en-AE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A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13.2+2</m:t>
                          </m:r>
                          <m:d>
                            <m:dPr>
                              <m:ctrlPr>
                                <a:rPr lang="en-A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E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d>
                          <m:r>
                            <a:rPr lang="en-AE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E" sz="1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𝟒𝟑</m:t>
                          </m:r>
                          <m:r>
                            <a:rPr lang="en-AE" sz="14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AE" sz="1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m:rPr>
                              <m:nor/>
                            </m:rPr>
                            <a:rPr lang="en-AE" sz="1400" b="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mm</m:t>
                          </m:r>
                        </m:e>
                      </m:d>
                    </m:oMath>
                  </m:oMathPara>
                </a14:m>
                <a:endParaRPr lang="en-GB" sz="1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𝐴𝑟𝑚𝑎𝑛𝑔𝑙𝑒</m:t>
                      </m:r>
                    </m:oMath>
                  </m:oMathPara>
                </a14:m>
                <a:endParaRPr lang="en-GB" sz="1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𝑇ℎ𝑒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𝑟𝑜𝑜𝑡𝑠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𝑠𝑖𝑡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12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𝑡ℎ𝑒𝑐𝑒𝑛𝑡𝑟𝑒𝑙𝑖𝑛𝑒</m:t>
                      </m:r>
                      <m:r>
                        <a:rPr lang="en-AE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GB" sz="14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AE" sz="14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E" sz="14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AE" sz="14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AE" sz="1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E" sz="1400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E" sz="1400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AE" sz="1400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AE" sz="1400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AE" sz="14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E" sz="14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43.2/2−12</m:t>
                                      </m:r>
                                    </m:num>
                                    <m:den>
                                      <m:r>
                                        <a:rPr lang="en-AE" sz="1400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92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AE" sz="1400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≈</m:t>
                          </m:r>
                          <m:sSup>
                            <m:sSupPr>
                              <m:ctrlPr>
                                <a:rPr lang="en-AE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E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𝟖𝟒</m:t>
                              </m:r>
                              <m:r>
                                <a:rPr lang="en-AE" sz="1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AE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AE" sz="1400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400" dirty="0">
                  <a:solidFill>
                    <a:schemeClr val="bg1"/>
                  </a:solidFill>
                </a:endParaRPr>
              </a:p>
              <a:p>
                <a:endParaRPr lang="en-AE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63C78D-0E5C-3EC5-ACC8-8AD143191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83" y="9665846"/>
                <a:ext cx="4032386" cy="17767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A26D251-0130-E0EF-A041-4CC3D3EE7A77}"/>
              </a:ext>
            </a:extLst>
          </p:cNvPr>
          <p:cNvSpPr txBox="1"/>
          <p:nvPr/>
        </p:nvSpPr>
        <p:spPr>
          <a:xfrm>
            <a:off x="6739165" y="1308334"/>
            <a:ext cx="2795249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n-AE" sz="1400" b="1" dirty="0">
                <a:solidFill>
                  <a:schemeClr val="bg1"/>
                </a:solidFill>
                <a:latin typeface="Avenir Next LT Pro Light" panose="020B0304020202020204" pitchFamily="34" charset="0"/>
              </a:rPr>
              <a:t>The Powertrain</a:t>
            </a:r>
          </a:p>
          <a:p>
            <a:pPr algn="just">
              <a:spcAft>
                <a:spcPts val="1200"/>
              </a:spcAft>
            </a:pP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At the stated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25–45 W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 system draw, nominal current is approximately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1.7–3.0 A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. Ideal runtime from full capacity is about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16 minutes at 25 W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 or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9 minutes at 45 W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. With 80% of capacity treated as usable, the estimates become roughly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13 and 7 minutes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. Real runtime will be lower or vary with motor load, voltage sag and conversion losses. Confirm that every powered component is rated for a 4S pack’s 16.8 V maximum.</a:t>
            </a:r>
          </a:p>
          <a:p>
            <a:pPr marL="0" marR="0" indent="0" algn="just">
              <a:spcAft>
                <a:spcPts val="1200"/>
              </a:spcAft>
              <a:buNone/>
            </a:pP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The controller drives upward until the limit switch activates, pauses for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11 seconds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, then descends to ultrasonic distance thresholds of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110 cm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 and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200 cm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, with a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2-second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 pause at the intermediate point. Distance is sampled every </a:t>
            </a:r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100 </a:t>
            </a:r>
            <a:r>
              <a:rPr lang="en-AE" sz="1400" b="1" i="0" dirty="0" err="1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ms</a:t>
            </a: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; three consecutive sensor failures during descent trigger a stop and fault indication.</a:t>
            </a:r>
            <a:endParaRPr lang="en-AE" sz="800" b="0" i="0" dirty="0">
              <a:solidFill>
                <a:schemeClr val="bg1"/>
              </a:solidFill>
              <a:effectLst/>
              <a:latin typeface="Avenir Next LT Pro Light" panose="020B03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CE0209-7B72-FD6F-9A20-0E73FFD7A90A}"/>
              </a:ext>
            </a:extLst>
          </p:cNvPr>
          <p:cNvSpPr txBox="1"/>
          <p:nvPr/>
        </p:nvSpPr>
        <p:spPr>
          <a:xfrm>
            <a:off x="132038" y="6282871"/>
            <a:ext cx="23008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E" sz="1400" b="1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The Material</a:t>
            </a:r>
          </a:p>
          <a:p>
            <a:pPr algn="just"/>
            <a:endParaRPr lang="en-AE" sz="1200" b="1" i="0" dirty="0">
              <a:solidFill>
                <a:schemeClr val="bg1"/>
              </a:solidFill>
              <a:effectLst/>
              <a:latin typeface="Avenir Next LT Pro Light" panose="020B0304020202020204" pitchFamily="34" charset="0"/>
            </a:endParaRPr>
          </a:p>
          <a:p>
            <a:pPr algn="just"/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PETG is the baseline because its balance of stiffness and ductility suits the flexures. PLA may be stiffer and less tolerant of repeated high-strain movement; ABS may behave differently and can warp during printing. Substituting material requires testing the spring response, wheel contact and fatigue.</a:t>
            </a:r>
            <a:endParaRPr lang="en-AE" sz="1400" dirty="0">
              <a:solidFill>
                <a:schemeClr val="bg1"/>
              </a:solidFill>
              <a:latin typeface="Avenir Next LT Pro Light" panose="020B0304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85C5335-F43B-44B9-EDA9-37E4A05389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6729854" y="7378596"/>
            <a:ext cx="2700200" cy="2850070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3A15A17-8CEB-763B-B67E-58E76D08FFC3}"/>
              </a:ext>
            </a:extLst>
          </p:cNvPr>
          <p:cNvGrpSpPr/>
          <p:nvPr/>
        </p:nvGrpSpPr>
        <p:grpSpPr>
          <a:xfrm>
            <a:off x="2900320" y="8622362"/>
            <a:ext cx="3285094" cy="619466"/>
            <a:chOff x="2891460" y="1552665"/>
            <a:chExt cx="3285094" cy="619466"/>
          </a:xfrm>
        </p:grpSpPr>
        <p:pic>
          <p:nvPicPr>
            <p:cNvPr id="57" name="Picture 56" descr="OpenSCAD | Ottawa Public Library">
              <a:extLst>
                <a:ext uri="{FF2B5EF4-FFF2-40B4-BE49-F238E27FC236}">
                  <a16:creationId xmlns:a16="http://schemas.microsoft.com/office/drawing/2014/main" id="{FB3CA20F-F681-94C6-63BD-4E13CFF17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r="62124"/>
            <a:stretch>
              <a:fillRect/>
            </a:stretch>
          </p:blipFill>
          <p:spPr>
            <a:xfrm>
              <a:off x="2891460" y="1635971"/>
              <a:ext cx="652448" cy="536160"/>
            </a:xfrm>
            <a:prstGeom prst="rect">
              <a:avLst/>
            </a:prstGeom>
          </p:spPr>
        </p:pic>
        <p:pic>
          <p:nvPicPr>
            <p:cNvPr id="58" name="Picture 57" descr="Open Source Java - Open Elements">
              <a:extLst>
                <a:ext uri="{FF2B5EF4-FFF2-40B4-BE49-F238E27FC236}">
                  <a16:creationId xmlns:a16="http://schemas.microsoft.com/office/drawing/2014/main" id="{717D8D76-799A-0C88-C306-D9936DE6A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7490" r="62068" b="27647"/>
            <a:stretch>
              <a:fillRect/>
            </a:stretch>
          </p:blipFill>
          <p:spPr>
            <a:xfrm>
              <a:off x="3868500" y="1553730"/>
              <a:ext cx="588794" cy="602981"/>
            </a:xfrm>
            <a:prstGeom prst="rect">
              <a:avLst/>
            </a:prstGeom>
          </p:spPr>
        </p:pic>
        <p:pic>
          <p:nvPicPr>
            <p:cNvPr id="59" name="Picture 58" descr="The Right to Repair">
              <a:extLst>
                <a:ext uri="{FF2B5EF4-FFF2-40B4-BE49-F238E27FC236}">
                  <a16:creationId xmlns:a16="http://schemas.microsoft.com/office/drawing/2014/main" id="{5B46DD6B-EED4-5FDD-0D58-F3C21E195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521" b="76656" l="16970" r="82879">
                          <a14:foregroundMark x1="43939" y1="29022" x2="46818" y2="32492"/>
                          <a14:foregroundMark x1="51970" y1="25394" x2="53485" y2="27287"/>
                          <a14:foregroundMark x1="39697" y1="37697" x2="43333" y2="41167"/>
                          <a14:foregroundMark x1="35758" y1="45110" x2="38485" y2="49211"/>
                          <a14:foregroundMark x1="27424" y1="55678" x2="28182" y2="55047"/>
                          <a14:foregroundMark x1="19091" y1="37224" x2="19091" y2="37224"/>
                          <a14:foregroundMark x1="19545" y1="48107" x2="19545" y2="48107"/>
                          <a14:foregroundMark x1="19545" y1="44953" x2="19545" y2="40536"/>
                          <a14:foregroundMark x1="17121" y1="40852" x2="17121" y2="43218"/>
                          <a14:foregroundMark x1="79091" y1="33596" x2="82273" y2="51420"/>
                          <a14:foregroundMark x1="53636" y1="74606" x2="41364" y2="73975"/>
                          <a14:foregroundMark x1="41364" y1="73975" x2="32576" y2="70820"/>
                          <a14:foregroundMark x1="52424" y1="43060" x2="51212" y2="43060"/>
                          <a14:foregroundMark x1="69848" y1="13407" x2="67121" y2="18612"/>
                          <a14:foregroundMark x1="81515" y1="17508" x2="82879" y2="22240"/>
                          <a14:foregroundMark x1="74242" y1="5678" x2="76212" y2="5678"/>
                          <a14:foregroundMark x1="52727" y1="76656" x2="49697" y2="76025"/>
                        </a14:backgroundRemoval>
                      </a14:imgEffect>
                      <a14:imgEffect>
                        <a14:brightnessContrast bright="70000" contrast="-100000"/>
                      </a14:imgEffect>
                    </a14:imgLayer>
                  </a14:imgProps>
                </a:ext>
              </a:extLst>
            </a:blip>
            <a:srcRect l="13409" r="12728" b="21893"/>
            <a:stretch>
              <a:fillRect/>
            </a:stretch>
          </p:blipFill>
          <p:spPr>
            <a:xfrm>
              <a:off x="4759938" y="1552665"/>
              <a:ext cx="588794" cy="598107"/>
            </a:xfrm>
            <a:prstGeom prst="rect">
              <a:avLst/>
            </a:prstGeom>
          </p:spPr>
        </p:pic>
        <p:pic>
          <p:nvPicPr>
            <p:cNvPr id="60" name="Picture 59" descr="esp32 - Mischianti">
              <a:extLst>
                <a:ext uri="{FF2B5EF4-FFF2-40B4-BE49-F238E27FC236}">
                  <a16:creationId xmlns:a16="http://schemas.microsoft.com/office/drawing/2014/main" id="{97755FAE-93E6-76A7-B480-D210D161A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1376" y="1622926"/>
              <a:ext cx="525178" cy="525178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00CC64D-D215-9732-1BEB-609D6DC9C752}"/>
              </a:ext>
            </a:extLst>
          </p:cNvPr>
          <p:cNvSpPr txBox="1"/>
          <p:nvPr/>
        </p:nvSpPr>
        <p:spPr>
          <a:xfrm>
            <a:off x="6814457" y="10134680"/>
            <a:ext cx="269053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1200"/>
              </a:spcAft>
              <a:buNone/>
            </a:pPr>
            <a:r>
              <a:rPr lang="en-AE" sz="1400" b="0" i="0" dirty="0">
                <a:solidFill>
                  <a:schemeClr val="bg1"/>
                </a:solidFill>
                <a:effectLst/>
                <a:latin typeface="Avenir Next LT Pro Light" panose="020B0304020202020204" pitchFamily="34" charset="0"/>
              </a:rPr>
              <a:t>The custom wheel reuses the N20 motor’s rubber tyres on twin 6.5 mm-wide seats. A continuous rim supports the tyres, while the five-spoke web connects the rim to the hub with less material. The D-shaped bore transfers motor torque, and a 2.5 mm boss offsets the wheel from the frame.</a:t>
            </a:r>
          </a:p>
        </p:txBody>
      </p:sp>
    </p:spTree>
    <p:extLst>
      <p:ext uri="{BB962C8B-B14F-4D97-AF65-F5344CB8AC3E}">
        <p14:creationId xmlns:p14="http://schemas.microsoft.com/office/powerpoint/2010/main" val="1569771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437</Words>
  <Application>Microsoft Office PowerPoint</Application>
  <PresentationFormat>A3 Paper (297x420 mm)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Felix Titling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</dc:creator>
  <cp:lastModifiedBy>Akbar</cp:lastModifiedBy>
  <cp:revision>11</cp:revision>
  <dcterms:created xsi:type="dcterms:W3CDTF">2026-10-25T12:23:12Z</dcterms:created>
  <dcterms:modified xsi:type="dcterms:W3CDTF">2026-10-25T15:16:24Z</dcterms:modified>
</cp:coreProperties>
</file>