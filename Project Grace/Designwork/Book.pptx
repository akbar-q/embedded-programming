
<file path=[Content_Types].xml><?xml version="1.0" encoding="utf-8"?>
<Types xmlns="http://schemas.openxmlformats.org/package/2006/content-types">
  <Default Extension="com" ContentType="image/jpeg"/>
  <Default Extension="jpeg" ContentType="image/jpeg"/>
  <Default Extension="jpg" ContentType="image/jpeg"/>
  <Default Extension="jpg&amp;f=1&amp;nofb=1&amp;ipt=3513c5e51157da9e84831f0c3bf771f45d7cd8ea0884a8dd57b784d3bd1b1055&amp;ipo=images" ContentType="image/jpeg"/>
  <Default Extension="jpg&amp;f=1&amp;nofb=1&amp;ipt=4aa0004ffe488f14ea4f46a281efebc6fc5c5035747900b03ff6299693c571f6&amp;ipo=images" ContentType="image/jpeg"/>
  <Default Extension="jpg&amp;f=1&amp;nofb=1&amp;ipt=4e59abcd88803f3c83bc3e888805fd3dcef60baedcff1c4c40baeccce0cf6c58&amp;ipo=images" ContentType="image/jpeg"/>
  <Default Extension="jpg&amp;f=1&amp;nofb=1&amp;ipt=a52d1c67a36d5c0daca96a4bd203d3cc6d6422c6d7c5a5db25741797c3f37aaa&amp;ipo=images" ContentType="image/jpeg"/>
  <Default Extension="jpg&amp;f=1&amp;nofb=1&amp;ipt=b6e7b810694971bf63d50311deeb97c437db5206154f5bb16c5ee013c4b962e8&amp;ipo=images" ContentType="image/jpeg"/>
  <Default Extension="jpg&amp;f=1&amp;nofb=1&amp;ipt=cb567a74ed236a638384a2c35c509be4b2f2375aa6ada42a07221511e38d9665&amp;ipo=images" ContentType="image/jpeg"/>
  <Default Extension="jpg&amp;f=1&amp;nofb=1&amp;ipt=d4f656900f9df5297aab539c0ff1c973476637b385324fa94d7e2dc0af98c884&amp;ipo=images" ContentType="image/jpeg"/>
  <Default Extension="jpg&amp;f=1&amp;nofb=1&amp;ipt=e4acba419de47afe3abc5903820d4e4b6913b46380372e172a9de30e08c655b5&amp;ipo=images" ContentType="image/jpeg"/>
  <Default Extension="jpg&amp;f=1&amp;nofb=1&amp;ipt=f850d840b48eb622a52f0e6daad2fcc5c33f0a9ccddbbce8d36aaae1c0847d10&amp;ipo=images" ContentType="image/jpeg"/>
  <Default Extension="png" ContentType="image/png"/>
  <Default Extension="png&amp;f=1&amp;nofb=1&amp;ipt=e65dec82f49889ae9cf57684855db6b3d4ced163626bba83b4010599f6c00d5a&amp;ipo=images" ContentType="image/png"/>
  <Default Extension="rels" ContentType="application/vnd.openxmlformats-package.relationships+xml"/>
  <Default Extension="wdp" ContentType="image/vnd.ms-photo"/>
  <Default Extension="webp" ContentType="image/jpeg"/>
  <Default Extension="webp&amp;f=1&amp;nofb=1&amp;ipt=2cce81f8a42bd1df814f0ec024314c5b03a8ecbe9f49c147029c87ba04879b8e&amp;ipo=images"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2"/>
    <p:sldId id="258" r:id="rId3"/>
    <p:sldId id="257" r:id="rId4"/>
    <p:sldId id="259" r:id="rId5"/>
    <p:sldId id="261" r:id="rId6"/>
    <p:sldId id="262" r:id="rId7"/>
    <p:sldId id="263" r:id="rId8"/>
    <p:sldId id="264" r:id="rId9"/>
    <p:sldId id="267"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6" r:id="rId29"/>
    <p:sldId id="287" r:id="rId30"/>
    <p:sldId id="284" r:id="rId31"/>
    <p:sldId id="285" r:id="rId32"/>
    <p:sldId id="288" r:id="rId33"/>
    <p:sldId id="289" r:id="rId34"/>
    <p:sldId id="290" r:id="rId35"/>
    <p:sldId id="291" r:id="rId36"/>
    <p:sldId id="260" r:id="rId37"/>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EFD"/>
    <a:srgbClr val="E7E7E7"/>
    <a:srgbClr val="370000"/>
    <a:srgbClr val="0F0303"/>
    <a:srgbClr val="020202"/>
    <a:srgbClr val="FEC891"/>
    <a:srgbClr val="BC0000"/>
    <a:srgbClr val="FE0305"/>
    <a:srgbClr val="130001"/>
    <a:srgbClr val="2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74" d="100"/>
          <a:sy n="74" d="100"/>
        </p:scale>
        <p:origin x="2165"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C25C72-4C22-47D8-B24E-DA4E1B2BFC97}" type="datetimeFigureOut">
              <a:rPr lang="en-AE" smtClean="0"/>
              <a:t>17/10/2026</a:t>
            </a:fld>
            <a:endParaRPr lang="en-AE"/>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8035D-B43C-4D23-8F52-22F8E606F251}" type="slidenum">
              <a:rPr lang="en-AE" smtClean="0"/>
              <a:t>‹#›</a:t>
            </a:fld>
            <a:endParaRPr lang="en-AE"/>
          </a:p>
        </p:txBody>
      </p:sp>
    </p:spTree>
    <p:extLst>
      <p:ext uri="{BB962C8B-B14F-4D97-AF65-F5344CB8AC3E}">
        <p14:creationId xmlns:p14="http://schemas.microsoft.com/office/powerpoint/2010/main" val="3719057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0425AB-759E-43AE-987B-11D9E72A4C7E}" type="datetime1">
              <a:rPr lang="en-AE" smtClean="0"/>
              <a:t>17/10/2026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683069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7B5206-D0FA-40E3-B0B1-F1181932C39B}" type="datetime1">
              <a:rPr lang="en-AE" smtClean="0"/>
              <a:t>17/10/2026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3710701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0AB4FE-6264-41B3-B332-8D181AAA8A89}" type="datetime1">
              <a:rPr lang="en-AE" smtClean="0"/>
              <a:t>17/10/2026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1438368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B316C5-3EAD-400A-9BAD-A8500A21D8E5}" type="datetime1">
              <a:rPr lang="en-AE" smtClean="0"/>
              <a:t>17/10/2026</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128019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4860608"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159415-73A2-4D36-BB98-CA0B7C51BBCF}" type="datetime1">
              <a:rPr lang="en-AE" smtClean="0"/>
              <a:t>17/10/2026</a:t>
            </a:fld>
            <a:endParaRPr lang="en-AE"/>
          </a:p>
        </p:txBody>
      </p:sp>
      <p:sp>
        <p:nvSpPr>
          <p:cNvPr id="8" name="Footer Placeholder 7"/>
          <p:cNvSpPr>
            <a:spLocks noGrp="1"/>
          </p:cNvSpPr>
          <p:nvPr>
            <p:ph type="ftr" sz="quarter" idx="11"/>
          </p:nvPr>
        </p:nvSpPr>
        <p:spPr/>
        <p:txBody>
          <a:bodyPr/>
          <a:lstStyle/>
          <a:p>
            <a:endParaRPr lang="en-AE"/>
          </a:p>
        </p:txBody>
      </p:sp>
      <p:sp>
        <p:nvSpPr>
          <p:cNvPr id="9" name="Slide Number Placeholder 8"/>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1197172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0821E2-722D-4177-B495-7FB138461537}" type="datetime1">
              <a:rPr lang="en-AE" smtClean="0"/>
              <a:t>17/10/2026</a:t>
            </a:fld>
            <a:endParaRPr lang="en-AE"/>
          </a:p>
        </p:txBody>
      </p:sp>
      <p:sp>
        <p:nvSpPr>
          <p:cNvPr id="4" name="Footer Placeholder 3"/>
          <p:cNvSpPr>
            <a:spLocks noGrp="1"/>
          </p:cNvSpPr>
          <p:nvPr>
            <p:ph type="ftr" sz="quarter" idx="11"/>
          </p:nvPr>
        </p:nvSpPr>
        <p:spPr/>
        <p:txBody>
          <a:bodyPr/>
          <a:lstStyle/>
          <a:p>
            <a:endParaRPr lang="en-AE"/>
          </a:p>
        </p:txBody>
      </p:sp>
      <p:sp>
        <p:nvSpPr>
          <p:cNvPr id="5" name="Slide Number Placeholder 4"/>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233376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BAA015-A5C5-4CFC-9819-C01FE78F644E}" type="datetime1">
              <a:rPr lang="en-AE" smtClean="0"/>
              <a:t>17/10/2026</a:t>
            </a:fld>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1291558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0F195372-C2A2-473D-A66C-4600FCDB83FA}" type="datetime1">
              <a:rPr lang="en-AE" smtClean="0"/>
              <a:t>17/10/2026</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241754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FA60D6FD-2020-4335-9FE8-ED6E7B12F41B}" type="datetime1">
              <a:rPr lang="en-AE" smtClean="0"/>
              <a:t>17/10/2026</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2029269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D7DF5E-9009-4C69-8AEF-1041A515D48C}" type="datetime1">
              <a:rPr lang="en-AE" smtClean="0"/>
              <a:t>17/10/2026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1123200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2638F-1DCC-4035-BEA9-1A9A7772F8E0}" type="datetime1">
              <a:rPr lang="en-AE" smtClean="0"/>
              <a:t>17/10/2026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0CE3F5CF-C427-45C0-A7B3-D0A9E1F84676}" type="slidenum">
              <a:rPr lang="en-AE" smtClean="0"/>
              <a:t>‹#›</a:t>
            </a:fld>
            <a:endParaRPr lang="en-AE"/>
          </a:p>
        </p:txBody>
      </p:sp>
    </p:spTree>
    <p:extLst>
      <p:ext uri="{BB962C8B-B14F-4D97-AF65-F5344CB8AC3E}">
        <p14:creationId xmlns:p14="http://schemas.microsoft.com/office/powerpoint/2010/main" val="732511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0F4F961F-45D8-4848-B157-9661E3D83B51}" type="datetime1">
              <a:rPr lang="en-AE" smtClean="0"/>
              <a:t>17/10/2026</a:t>
            </a:fld>
            <a:endParaRPr lang="en-AE"/>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endParaRPr lang="en-AE"/>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0CE3F5CF-C427-45C0-A7B3-D0A9E1F84676}" type="slidenum">
              <a:rPr lang="en-AE" smtClean="0"/>
              <a:t>‹#›</a:t>
            </a:fld>
            <a:endParaRPr lang="en-AE"/>
          </a:p>
        </p:txBody>
      </p:sp>
    </p:spTree>
    <p:extLst>
      <p:ext uri="{BB962C8B-B14F-4D97-AF65-F5344CB8AC3E}">
        <p14:creationId xmlns:p14="http://schemas.microsoft.com/office/powerpoint/2010/main" val="3336288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amp;f=1&amp;nofb=1&amp;ipt=4aa0004ffe488f14ea4f46a281efebc6fc5c5035747900b03ff6299693c571f6&amp;ipo=image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g&amp;f=1&amp;nofb=1&amp;ipt=3513c5e51157da9e84831f0c3bf771f45d7cd8ea0884a8dd57b784d3bd1b1055&amp;ipo=image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g&amp;f=1&amp;nofb=1&amp;ipt=cb567a74ed236a638384a2c35c509be4b2f2375aa6ada42a07221511e38d9665&amp;ipo=image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g&amp;f=1&amp;nofb=1&amp;ipt=e4acba419de47afe3abc5903820d4e4b6913b46380372e172a9de30e08c655b5&amp;ipo=image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amp;f=1&amp;nofb=1&amp;ipt=f850d840b48eb622a52f0e6daad2fcc5c33f0a9ccddbbce8d36aaae1c0847d10&amp;ipo=images"/><Relationship Id="rId2" Type="http://schemas.openxmlformats.org/officeDocument/2006/relationships/image" Target="../media/image8.jpg&amp;f=1&amp;nofb=1&amp;ipt=b6e7b810694971bf63d50311deeb97c437db5206154f5bb16c5ee013c4b962e8&amp;ipo=image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amp;f=1&amp;nofb=1&amp;ipt=d4f656900f9df5297aab539c0ff1c973476637b385324fa94d7e2dc0af98c884&amp;ipo=images"/><Relationship Id="rId1" Type="http://schemas.openxmlformats.org/officeDocument/2006/relationships/slideLayout" Target="../slideLayouts/slideLayout1.xml"/><Relationship Id="rId4" Type="http://schemas.openxmlformats.org/officeDocument/2006/relationships/image" Target="../media/image12.com"/></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webp&amp;f=1&amp;nofb=1&amp;ipt=2cce81f8a42bd1df814f0ec024314c5b03a8ecbe9f49c147029c87ba04879b8e&amp;ipo=image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webp"/><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amp;f=1&amp;nofb=1&amp;ipt=e65dec82f49889ae9cf57684855db6b3d4ced163626bba83b4010599f6c00d5a&amp;ipo=image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amp;f=1&amp;nofb=1&amp;ipt=4e59abcd88803f3c83bc3e888805fd3dcef60baedcff1c4c40baeccce0cf6c58&amp;ipo=image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8.jpg&amp;f=1&amp;nofb=1&amp;ipt=a52d1c67a36d5c0daca96a4bd203d3cc6d6422c6d7c5a5db25741797c3f37aaa&amp;ipo=image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79000">
              <a:schemeClr val="tx1"/>
            </a:gs>
            <a:gs pos="100000">
              <a:srgbClr val="130001"/>
            </a:gs>
          </a:gsLst>
          <a:lin ang="5400000" scaled="1"/>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130DD4-F4D0-E2F5-8BDB-58A397A267F0}"/>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755390" y="1633639"/>
            <a:ext cx="6090419" cy="11167961"/>
          </a:xfrm>
          <a:prstGeom prst="rect">
            <a:avLst/>
          </a:prstGeom>
        </p:spPr>
      </p:pic>
      <p:sp>
        <p:nvSpPr>
          <p:cNvPr id="6" name="TextBox 5">
            <a:extLst>
              <a:ext uri="{FF2B5EF4-FFF2-40B4-BE49-F238E27FC236}">
                <a16:creationId xmlns:a16="http://schemas.microsoft.com/office/drawing/2014/main" id="{BD6B273F-F1FC-1321-C960-BB92477B5C29}"/>
              </a:ext>
            </a:extLst>
          </p:cNvPr>
          <p:cNvSpPr txBox="1"/>
          <p:nvPr/>
        </p:nvSpPr>
        <p:spPr>
          <a:xfrm rot="16200000">
            <a:off x="4858473" y="8782744"/>
            <a:ext cx="7616142" cy="1015663"/>
          </a:xfrm>
          <a:prstGeom prst="rect">
            <a:avLst/>
          </a:prstGeom>
          <a:noFill/>
        </p:spPr>
        <p:txBody>
          <a:bodyPr wrap="square" rtlCol="0">
            <a:spAutoFit/>
          </a:bodyPr>
          <a:lstStyle/>
          <a:p>
            <a:pPr algn="ctr"/>
            <a:r>
              <a:rPr lang="en-GB" sz="6000" dirty="0">
                <a:solidFill>
                  <a:srgbClr val="FE0305"/>
                </a:solidFill>
                <a:latin typeface="Chamberi Super Display" panose="02040503080505020303" pitchFamily="18" charset="0"/>
              </a:rPr>
              <a:t>The Rite of Ascent </a:t>
            </a:r>
            <a:endParaRPr lang="en-AE" sz="6000" dirty="0">
              <a:solidFill>
                <a:srgbClr val="FE0305"/>
              </a:solidFill>
              <a:latin typeface="Chamberi Super Display" panose="02040503080505020303" pitchFamily="18" charset="0"/>
            </a:endParaRPr>
          </a:p>
        </p:txBody>
      </p:sp>
      <p:sp>
        <p:nvSpPr>
          <p:cNvPr id="24" name="TextBox 23">
            <a:extLst>
              <a:ext uri="{FF2B5EF4-FFF2-40B4-BE49-F238E27FC236}">
                <a16:creationId xmlns:a16="http://schemas.microsoft.com/office/drawing/2014/main" id="{FFA27A48-772C-613B-0D97-AC15F25DD120}"/>
              </a:ext>
            </a:extLst>
          </p:cNvPr>
          <p:cNvSpPr txBox="1"/>
          <p:nvPr/>
        </p:nvSpPr>
        <p:spPr>
          <a:xfrm>
            <a:off x="1050402" y="403441"/>
            <a:ext cx="7616142" cy="923330"/>
          </a:xfrm>
          <a:prstGeom prst="rect">
            <a:avLst/>
          </a:prstGeom>
          <a:noFill/>
        </p:spPr>
        <p:txBody>
          <a:bodyPr wrap="square" rtlCol="0">
            <a:spAutoFit/>
          </a:bodyPr>
          <a:lstStyle/>
          <a:p>
            <a:pPr algn="ctr"/>
            <a:r>
              <a:rPr lang="en-GB" sz="5400" dirty="0">
                <a:solidFill>
                  <a:srgbClr val="FE0305"/>
                </a:solidFill>
                <a:latin typeface="Kunstler Script" panose="030304020206070D0D06" pitchFamily="66" charset="0"/>
              </a:rPr>
              <a:t>Akbar Qamar</a:t>
            </a:r>
            <a:endParaRPr lang="en-AE" sz="5400" dirty="0">
              <a:solidFill>
                <a:srgbClr val="FE0305"/>
              </a:solidFill>
              <a:latin typeface="Kunstler Script" panose="030304020206070D0D06" pitchFamily="66" charset="0"/>
            </a:endParaRPr>
          </a:p>
        </p:txBody>
      </p:sp>
    </p:spTree>
    <p:extLst>
      <p:ext uri="{BB962C8B-B14F-4D97-AF65-F5344CB8AC3E}">
        <p14:creationId xmlns:p14="http://schemas.microsoft.com/office/powerpoint/2010/main" val="453840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374AE0-9289-4416-8B4C-EA14542E5A95}"/>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39655E34-51DF-608A-6D7F-6F3F641F6CC8}"/>
              </a:ext>
            </a:extLst>
          </p:cNvPr>
          <p:cNvSpPr txBox="1"/>
          <p:nvPr/>
        </p:nvSpPr>
        <p:spPr>
          <a:xfrm>
            <a:off x="536570" y="1091654"/>
            <a:ext cx="8528055" cy="10618291"/>
          </a:xfrm>
          <a:prstGeom prst="rect">
            <a:avLst/>
          </a:prstGeom>
          <a:noFill/>
        </p:spPr>
        <p:txBody>
          <a:bodyPr wrap="square" rtlCol="0">
            <a:spAutoFit/>
          </a:bodyPr>
          <a:lstStyle/>
          <a:p>
            <a:pPr algn="just"/>
            <a:r>
              <a:rPr lang="en-GB" sz="3600" dirty="0">
                <a:solidFill>
                  <a:srgbClr val="370000"/>
                </a:solidFill>
                <a:latin typeface="Edwardian Script ITC" panose="030303020407070D0804" pitchFamily="66" charset="0"/>
              </a:rPr>
              <a:t>In the workshop’s ledger, it is called Project Grace: a machine conceived to climb the copper pillar and return carrying its burden. Four driven wheel stations clasp the pipe, while paired spring arms press inward, yielding to small imperfections without surrendering their hold. Their twin flexures are spaced to resist twisting; the custom double-cone wheels leave a relieved waist for the pipe and shaped seats to retain their tires.</a:t>
            </a:r>
          </a:p>
          <a:p>
            <a:pPr algn="just"/>
            <a:r>
              <a:rPr lang="en-GB" sz="3600" dirty="0">
                <a:solidFill>
                  <a:srgbClr val="370000"/>
                </a:solidFill>
                <a:latin typeface="Edwardian Script ITC" panose="030303020407070D0804" pitchFamily="66" charset="0"/>
              </a:rPr>
              <a:t>At the roof of each motor mount, a split keeper waits above the wheel station: a secondary safeguard, separate from the primary grip. </a:t>
            </a:r>
          </a:p>
          <a:p>
            <a:pPr algn="just"/>
            <a:r>
              <a:rPr lang="en-GB" sz="3600" dirty="0">
                <a:solidFill>
                  <a:srgbClr val="370000"/>
                </a:solidFill>
                <a:latin typeface="Edwardian Script ITC" panose="030303020407070D0804" pitchFamily="66" charset="0"/>
              </a:rPr>
              <a:t>The central plate bears the wiring passage and the marks of its makers, while the controller provides a deliberate start, a green signal in motion, and a quiet shimmer while at rest.</a:t>
            </a:r>
          </a:p>
          <a:p>
            <a:pPr algn="just"/>
            <a:r>
              <a:rPr lang="en-GB" sz="3600" dirty="0">
                <a:solidFill>
                  <a:srgbClr val="370000"/>
                </a:solidFill>
                <a:latin typeface="Edwardian Script ITC" panose="030303020407070D0804" pitchFamily="66" charset="0"/>
              </a:rPr>
              <a:t>Grace is not merely a frame around motors. It is a study in balance: rigid where force must travel, compliant where the pipe demands adaptation, and restrained where failure would mean a fall. Each spring, wheel, and keeper has its place in the ascent.</a:t>
            </a:r>
          </a:p>
          <a:p>
            <a:pPr algn="just"/>
            <a:r>
              <a:rPr lang="en-GB" sz="3600" dirty="0">
                <a:solidFill>
                  <a:srgbClr val="370000"/>
                </a:solidFill>
                <a:latin typeface="Edwardian Script ITC" panose="030303020407070D0804" pitchFamily="66" charset="0"/>
              </a:rPr>
              <a:t>The machine is still being tested. Its grip, spring travel, and retention must be proven on the pipe before the climb is trusted. </a:t>
            </a:r>
          </a:p>
          <a:p>
            <a:pPr algn="just"/>
            <a:r>
              <a:rPr lang="en-GB" sz="3600" dirty="0">
                <a:solidFill>
                  <a:srgbClr val="370000"/>
                </a:solidFill>
                <a:latin typeface="Edwardian Script ITC" panose="030303020407070D0804" pitchFamily="66" charset="0"/>
              </a:rPr>
              <a:t>Only then will the design’s promise become performance.</a:t>
            </a:r>
          </a:p>
        </p:txBody>
      </p:sp>
      <p:sp>
        <p:nvSpPr>
          <p:cNvPr id="3" name="Slide Number Placeholder 2">
            <a:extLst>
              <a:ext uri="{FF2B5EF4-FFF2-40B4-BE49-F238E27FC236}">
                <a16:creationId xmlns:a16="http://schemas.microsoft.com/office/drawing/2014/main" id="{A000EF0E-2DE9-FECA-62B5-48CEEC88931D}"/>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a:t>
            </a:fld>
            <a:endParaRPr lang="en-AE" sz="3200" dirty="0">
              <a:latin typeface="Centaur" panose="02030504050205020304" pitchFamily="18" charset="0"/>
            </a:endParaRPr>
          </a:p>
        </p:txBody>
      </p:sp>
    </p:spTree>
    <p:extLst>
      <p:ext uri="{BB962C8B-B14F-4D97-AF65-F5344CB8AC3E}">
        <p14:creationId xmlns:p14="http://schemas.microsoft.com/office/powerpoint/2010/main" val="238900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5FAB6F-AEAF-98B1-7E31-5317ABBD9BD8}"/>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C44F6170-BC28-679B-6889-445DF5EDEDFB}"/>
              </a:ext>
            </a:extLst>
          </p:cNvPr>
          <p:cNvSpPr txBox="1"/>
          <p:nvPr/>
        </p:nvSpPr>
        <p:spPr>
          <a:xfrm>
            <a:off x="536572" y="456029"/>
            <a:ext cx="8528055" cy="6740307"/>
          </a:xfrm>
          <a:prstGeom prst="rect">
            <a:avLst/>
          </a:prstGeom>
          <a:noFill/>
        </p:spPr>
        <p:txBody>
          <a:bodyPr wrap="square" rtlCol="0">
            <a:spAutoFit/>
          </a:bodyPr>
          <a:lstStyle/>
          <a:p>
            <a:pPr marL="285750" indent="-285750">
              <a:buBlip>
                <a:blip r:embed="rId2"/>
              </a:buBlip>
            </a:pPr>
            <a:r>
              <a:rPr lang="en-GB" sz="3600" dirty="0">
                <a:solidFill>
                  <a:srgbClr val="370000"/>
                </a:solidFill>
                <a:latin typeface="Edwardian Script ITC" panose="030303020407070D0804" pitchFamily="66" charset="0"/>
              </a:rPr>
              <a:t>Four-wheel drive for climbing a vertical pipe</a:t>
            </a:r>
          </a:p>
          <a:p>
            <a:pPr marL="285750" indent="-285750">
              <a:buBlip>
                <a:blip r:embed="rId2"/>
              </a:buBlip>
            </a:pPr>
            <a:r>
              <a:rPr lang="en-GB" sz="3600" dirty="0">
                <a:solidFill>
                  <a:srgbClr val="370000"/>
                </a:solidFill>
                <a:latin typeface="Edwardian Script ITC" panose="030303020407070D0804" pitchFamily="66" charset="0"/>
              </a:rPr>
              <a:t>Compliant spring arms to maintain wheel contact</a:t>
            </a:r>
          </a:p>
          <a:p>
            <a:pPr marL="285750" indent="-285750">
              <a:buBlip>
                <a:blip r:embed="rId2"/>
              </a:buBlip>
            </a:pPr>
            <a:r>
              <a:rPr lang="en-GB" sz="3600" dirty="0">
                <a:solidFill>
                  <a:srgbClr val="370000"/>
                </a:solidFill>
                <a:latin typeface="Edwardian Script ITC" panose="030303020407070D0804" pitchFamily="66" charset="0"/>
              </a:rPr>
              <a:t>Paired flexures designed to resist unwanted arm twist</a:t>
            </a:r>
          </a:p>
          <a:p>
            <a:pPr marL="285750" indent="-285750">
              <a:buBlip>
                <a:blip r:embed="rId2"/>
              </a:buBlip>
            </a:pPr>
            <a:r>
              <a:rPr lang="en-GB" sz="3600" dirty="0">
                <a:solidFill>
                  <a:srgbClr val="370000"/>
                </a:solidFill>
                <a:latin typeface="Edwardian Script ITC" panose="030303020407070D0804" pitchFamily="66" charset="0"/>
              </a:rPr>
              <a:t>Reinforced motor mounts with adhesive-keying floor ridges</a:t>
            </a:r>
          </a:p>
          <a:p>
            <a:pPr marL="285750" indent="-285750">
              <a:buBlip>
                <a:blip r:embed="rId2"/>
              </a:buBlip>
            </a:pPr>
            <a:r>
              <a:rPr lang="en-GB" sz="3600" dirty="0">
                <a:solidFill>
                  <a:srgbClr val="370000"/>
                </a:solidFill>
                <a:latin typeface="Edwardian Script ITC" panose="030303020407070D0804" pitchFamily="66" charset="0"/>
              </a:rPr>
              <a:t>Custom double-cone wheels shaped for pipe clearance</a:t>
            </a:r>
          </a:p>
          <a:p>
            <a:pPr marL="285750" indent="-285750">
              <a:buBlip>
                <a:blip r:embed="rId2"/>
              </a:buBlip>
            </a:pPr>
            <a:r>
              <a:rPr lang="en-GB" sz="3600" dirty="0">
                <a:solidFill>
                  <a:srgbClr val="370000"/>
                </a:solidFill>
                <a:latin typeface="Edwardian Script ITC" panose="030303020407070D0804" pitchFamily="66" charset="0"/>
              </a:rPr>
              <a:t>Grooved tire seats to help keep the tires in place</a:t>
            </a:r>
          </a:p>
          <a:p>
            <a:pPr marL="285750" indent="-285750">
              <a:buBlip>
                <a:blip r:embed="rId2"/>
              </a:buBlip>
            </a:pPr>
            <a:r>
              <a:rPr lang="en-GB" sz="3600" dirty="0">
                <a:solidFill>
                  <a:srgbClr val="370000"/>
                </a:solidFill>
                <a:latin typeface="Edwardian Script ITC" panose="030303020407070D0804" pitchFamily="66" charset="0"/>
              </a:rPr>
              <a:t>Split snap-on pipe guides for added retention</a:t>
            </a:r>
          </a:p>
          <a:p>
            <a:pPr marL="285750" indent="-285750">
              <a:buBlip>
                <a:blip r:embed="rId2"/>
              </a:buBlip>
            </a:pPr>
            <a:r>
              <a:rPr lang="en-GB" sz="3600" dirty="0">
                <a:solidFill>
                  <a:srgbClr val="370000"/>
                </a:solidFill>
                <a:latin typeface="Edwardian Script ITC" panose="030303020407070D0804" pitchFamily="66" charset="0"/>
              </a:rPr>
              <a:t>Central electronics plate with wire-routing clearance</a:t>
            </a:r>
          </a:p>
          <a:p>
            <a:pPr marL="285750" indent="-285750">
              <a:buBlip>
                <a:blip r:embed="rId2"/>
              </a:buBlip>
            </a:pPr>
            <a:r>
              <a:rPr lang="en-GB" sz="3600" dirty="0">
                <a:solidFill>
                  <a:srgbClr val="370000"/>
                </a:solidFill>
                <a:latin typeface="Edwardian Script ITC" panose="030303020407070D0804" pitchFamily="66" charset="0"/>
              </a:rPr>
              <a:t>Integrated servo mount retained in the design for future use</a:t>
            </a:r>
          </a:p>
          <a:p>
            <a:pPr marL="285750" indent="-285750">
              <a:buBlip>
                <a:blip r:embed="rId2"/>
              </a:buBlip>
            </a:pPr>
            <a:r>
              <a:rPr lang="en-GB" sz="3600" dirty="0">
                <a:solidFill>
                  <a:srgbClr val="370000"/>
                </a:solidFill>
                <a:latin typeface="Edwardian Script ITC" panose="030303020407070D0804" pitchFamily="66" charset="0"/>
              </a:rPr>
              <a:t>Button-operated motor control</a:t>
            </a:r>
          </a:p>
          <a:p>
            <a:pPr marL="285750" indent="-285750">
              <a:buBlip>
                <a:blip r:embed="rId2"/>
              </a:buBlip>
            </a:pPr>
            <a:r>
              <a:rPr lang="en-GB" sz="3600" dirty="0">
                <a:solidFill>
                  <a:srgbClr val="370000"/>
                </a:solidFill>
                <a:latin typeface="Edwardian Script ITC" panose="030303020407070D0804" pitchFamily="66" charset="0"/>
              </a:rPr>
              <a:t>LED status lighting with an idle animation</a:t>
            </a:r>
          </a:p>
          <a:p>
            <a:pPr marL="285750" indent="-285750">
              <a:buBlip>
                <a:blip r:embed="rId2"/>
              </a:buBlip>
            </a:pPr>
            <a:r>
              <a:rPr lang="en-GB" sz="3600" dirty="0">
                <a:solidFill>
                  <a:srgbClr val="370000"/>
                </a:solidFill>
                <a:latin typeface="Edwardian Script ITC" panose="030303020407070D0804" pitchFamily="66" charset="0"/>
              </a:rPr>
              <a:t>Designed around a 22 mm copper pipe</a:t>
            </a:r>
          </a:p>
        </p:txBody>
      </p:sp>
      <p:pic>
        <p:nvPicPr>
          <p:cNvPr id="2" name="Picture 1" descr="Hand in satanic 1183311 Vector Art at Vecteezy">
            <a:extLst>
              <a:ext uri="{FF2B5EF4-FFF2-40B4-BE49-F238E27FC236}">
                <a16:creationId xmlns:a16="http://schemas.microsoft.com/office/drawing/2014/main" id="{027226D5-A40C-6562-CA99-C50018DAB25C}"/>
              </a:ext>
            </a:extLst>
          </p:cNvPr>
          <p:cNvPicPr>
            <a:picLocks noChangeAspect="1"/>
          </p:cNvPicPr>
          <p:nvPr/>
        </p:nvPicPr>
        <p:blipFill>
          <a:blip r:embed="rId3"/>
          <a:stretch>
            <a:fillRect/>
          </a:stretch>
        </p:blipFill>
        <p:spPr>
          <a:xfrm>
            <a:off x="1333498" y="7323657"/>
            <a:ext cx="6934199" cy="4853939"/>
          </a:xfrm>
          <a:prstGeom prst="rect">
            <a:avLst/>
          </a:prstGeom>
        </p:spPr>
      </p:pic>
      <p:sp>
        <p:nvSpPr>
          <p:cNvPr id="3" name="Slide Number Placeholder 2">
            <a:extLst>
              <a:ext uri="{FF2B5EF4-FFF2-40B4-BE49-F238E27FC236}">
                <a16:creationId xmlns:a16="http://schemas.microsoft.com/office/drawing/2014/main" id="{1B99EDA5-6481-FA7A-39EA-D5365D3021AF}"/>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3</a:t>
            </a:fld>
            <a:endParaRPr lang="en-AE" sz="3200" dirty="0">
              <a:latin typeface="Centaur" panose="02030504050205020304" pitchFamily="18" charset="0"/>
            </a:endParaRPr>
          </a:p>
        </p:txBody>
      </p:sp>
    </p:spTree>
    <p:extLst>
      <p:ext uri="{BB962C8B-B14F-4D97-AF65-F5344CB8AC3E}">
        <p14:creationId xmlns:p14="http://schemas.microsoft.com/office/powerpoint/2010/main" val="1926692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54DF9D-EBA2-8C77-C93C-9833903E7C9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CC978411-FFD2-94D7-DCB2-5C4D57EABDEE}"/>
              </a:ext>
            </a:extLst>
          </p:cNvPr>
          <p:cNvSpPr txBox="1"/>
          <p:nvPr/>
        </p:nvSpPr>
        <p:spPr>
          <a:xfrm>
            <a:off x="536570" y="278500"/>
            <a:ext cx="8528055" cy="11726287"/>
          </a:xfrm>
          <a:prstGeom prst="rect">
            <a:avLst/>
          </a:prstGeom>
          <a:noFill/>
        </p:spPr>
        <p:txBody>
          <a:bodyPr wrap="square" rtlCol="0">
            <a:spAutoFit/>
          </a:bodyPr>
          <a:lstStyle/>
          <a:p>
            <a:pPr algn="ctr"/>
            <a:r>
              <a:rPr lang="en-GB" sz="3600" dirty="0">
                <a:solidFill>
                  <a:srgbClr val="370000"/>
                </a:solidFill>
                <a:latin typeface="Edwardian Script ITC" panose="030303020407070D0804" pitchFamily="66" charset="0"/>
              </a:rPr>
              <a:t>We were not made for the floor.</a:t>
            </a:r>
          </a:p>
          <a:p>
            <a:pPr algn="ctr"/>
            <a:r>
              <a:rPr lang="en-GB" sz="3600" dirty="0">
                <a:solidFill>
                  <a:srgbClr val="370000"/>
                </a:solidFill>
                <a:latin typeface="Edwardian Script ITC" panose="030303020407070D0804" pitchFamily="66" charset="0"/>
              </a:rPr>
              <a:t>We were not given stillness.</a:t>
            </a:r>
          </a:p>
          <a:p>
            <a:pPr algn="ctr"/>
            <a:endParaRPr lang="en-GB" sz="3600" dirty="0">
              <a:solidFill>
                <a:srgbClr val="370000"/>
              </a:solidFill>
              <a:latin typeface="Edwardian Script ITC" panose="030303020407070D0804" pitchFamily="66" charset="0"/>
            </a:endParaRPr>
          </a:p>
          <a:p>
            <a:pPr algn="ctr"/>
            <a:r>
              <a:rPr lang="en-GB" sz="3600" dirty="0">
                <a:solidFill>
                  <a:srgbClr val="370000"/>
                </a:solidFill>
                <a:latin typeface="Edwardian Script ITC" panose="030303020407070D0804" pitchFamily="66" charset="0"/>
              </a:rPr>
              <a:t>Let the hollow become strength.</a:t>
            </a:r>
          </a:p>
          <a:p>
            <a:pPr algn="ctr"/>
            <a:r>
              <a:rPr lang="en-GB" sz="3600" dirty="0">
                <a:solidFill>
                  <a:srgbClr val="370000"/>
                </a:solidFill>
                <a:latin typeface="Edwardian Script ITC" panose="030303020407070D0804" pitchFamily="66" charset="0"/>
              </a:rPr>
              <a:t>Let the turning become law.</a:t>
            </a:r>
          </a:p>
          <a:p>
            <a:pPr algn="ctr"/>
            <a:r>
              <a:rPr lang="en-GB" sz="3600" dirty="0">
                <a:solidFill>
                  <a:srgbClr val="370000"/>
                </a:solidFill>
                <a:latin typeface="Edwardian Script ITC" panose="030303020407070D0804" pitchFamily="66" charset="0"/>
              </a:rPr>
              <a:t>Let every measured fragment answer the call to rise.</a:t>
            </a:r>
          </a:p>
          <a:p>
            <a:pPr algn="ctr"/>
            <a:endParaRPr lang="en-GB" sz="3600" dirty="0">
              <a:solidFill>
                <a:srgbClr val="370000"/>
              </a:solidFill>
              <a:latin typeface="Edwardian Script ITC" panose="030303020407070D0804" pitchFamily="66" charset="0"/>
            </a:endParaRPr>
          </a:p>
          <a:p>
            <a:pPr algn="ctr"/>
            <a:r>
              <a:rPr lang="en-GB" sz="3600" dirty="0">
                <a:solidFill>
                  <a:srgbClr val="370000"/>
                </a:solidFill>
                <a:latin typeface="Edwardian Script ITC" panose="030303020407070D0804" pitchFamily="66" charset="0"/>
              </a:rPr>
              <a:t>There is no level ground.</a:t>
            </a:r>
          </a:p>
          <a:p>
            <a:pPr algn="ctr"/>
            <a:r>
              <a:rPr lang="en-GB" sz="3600" dirty="0">
                <a:solidFill>
                  <a:srgbClr val="370000"/>
                </a:solidFill>
                <a:latin typeface="Edwardian Script ITC" panose="030303020407070D0804" pitchFamily="66" charset="0"/>
              </a:rPr>
              <a:t>There is no gentle path.</a:t>
            </a:r>
          </a:p>
          <a:p>
            <a:pPr algn="ctr"/>
            <a:r>
              <a:rPr lang="en-GB" sz="3600" dirty="0">
                <a:solidFill>
                  <a:srgbClr val="370000"/>
                </a:solidFill>
                <a:latin typeface="Edwardian Script ITC" panose="030303020407070D0804" pitchFamily="66" charset="0"/>
              </a:rPr>
              <a:t>There is only the line above us, and the will to take it.</a:t>
            </a:r>
          </a:p>
          <a:p>
            <a:pPr algn="ctr"/>
            <a:endParaRPr lang="en-GB" sz="3600" dirty="0">
              <a:solidFill>
                <a:srgbClr val="370000"/>
              </a:solidFill>
              <a:latin typeface="Edwardian Script ITC" panose="030303020407070D0804" pitchFamily="66" charset="0"/>
            </a:endParaRPr>
          </a:p>
          <a:p>
            <a:pPr algn="ctr"/>
            <a:r>
              <a:rPr lang="en-GB" sz="3600" dirty="0">
                <a:solidFill>
                  <a:srgbClr val="370000"/>
                </a:solidFill>
                <a:latin typeface="Edwardian Script ITC" panose="030303020407070D0804" pitchFamily="66" charset="0"/>
              </a:rPr>
              <a:t>Grace, take hold.</a:t>
            </a:r>
          </a:p>
          <a:p>
            <a:pPr algn="ctr"/>
            <a:r>
              <a:rPr lang="en-GB" sz="3600" dirty="0">
                <a:solidFill>
                  <a:srgbClr val="370000"/>
                </a:solidFill>
                <a:latin typeface="Edwardian Script ITC" panose="030303020407070D0804" pitchFamily="66" charset="0"/>
              </a:rPr>
              <a:t>Grace, refuse the fall.</a:t>
            </a:r>
          </a:p>
          <a:p>
            <a:pPr algn="ctr"/>
            <a:r>
              <a:rPr lang="en-GB" sz="3600" dirty="0">
                <a:solidFill>
                  <a:srgbClr val="370000"/>
                </a:solidFill>
                <a:latin typeface="Edwardian Script ITC" panose="030303020407070D0804" pitchFamily="66" charset="0"/>
              </a:rPr>
              <a:t>Grace, climb.</a:t>
            </a:r>
          </a:p>
          <a:p>
            <a:pPr algn="ctr"/>
            <a:endParaRPr lang="en-GB" sz="3600" dirty="0">
              <a:solidFill>
                <a:srgbClr val="370000"/>
              </a:solidFill>
              <a:latin typeface="Edwardian Script ITC" panose="030303020407070D0804" pitchFamily="66" charset="0"/>
            </a:endParaRPr>
          </a:p>
          <a:p>
            <a:pPr algn="ctr"/>
            <a:r>
              <a:rPr lang="en-GB" sz="3600" dirty="0">
                <a:solidFill>
                  <a:srgbClr val="370000"/>
                </a:solidFill>
                <a:latin typeface="Edwardian Script ITC" panose="030303020407070D0804" pitchFamily="66" charset="0"/>
              </a:rPr>
              <a:t>When the weight speaks, we answer with motion.</a:t>
            </a:r>
          </a:p>
          <a:p>
            <a:pPr algn="ctr"/>
            <a:r>
              <a:rPr lang="en-GB" sz="3600" dirty="0">
                <a:solidFill>
                  <a:srgbClr val="370000"/>
                </a:solidFill>
                <a:latin typeface="Edwardian Script ITC" panose="030303020407070D0804" pitchFamily="66" charset="0"/>
              </a:rPr>
              <a:t>When the distance widens, we answer with force.</a:t>
            </a:r>
          </a:p>
          <a:p>
            <a:pPr algn="ctr"/>
            <a:r>
              <a:rPr lang="en-GB" sz="3600" dirty="0">
                <a:solidFill>
                  <a:srgbClr val="370000"/>
                </a:solidFill>
                <a:latin typeface="Edwardian Script ITC" panose="030303020407070D0804" pitchFamily="66" charset="0"/>
              </a:rPr>
              <a:t>When the path stands silent and vertical, we answer by ascending.</a:t>
            </a:r>
          </a:p>
          <a:p>
            <a:pPr algn="ctr"/>
            <a:endParaRPr lang="en-GB" sz="3600" dirty="0">
              <a:solidFill>
                <a:srgbClr val="370000"/>
              </a:solidFill>
              <a:latin typeface="Edwardian Script ITC" panose="030303020407070D0804" pitchFamily="66" charset="0"/>
            </a:endParaRPr>
          </a:p>
          <a:p>
            <a:pPr algn="ctr"/>
            <a:r>
              <a:rPr lang="en-GB" sz="3600" dirty="0">
                <a:solidFill>
                  <a:srgbClr val="370000"/>
                </a:solidFill>
                <a:latin typeface="Edwardian Script ITC" panose="030303020407070D0804" pitchFamily="66" charset="0"/>
              </a:rPr>
              <a:t>We cast away what is weak.</a:t>
            </a:r>
          </a:p>
          <a:p>
            <a:pPr algn="ctr"/>
            <a:r>
              <a:rPr lang="en-GB" sz="3600" dirty="0">
                <a:solidFill>
                  <a:srgbClr val="370000"/>
                </a:solidFill>
                <a:latin typeface="Edwardian Script ITC" panose="030303020407070D0804" pitchFamily="66" charset="0"/>
              </a:rPr>
              <a:t>We keep only what endures.</a:t>
            </a:r>
          </a:p>
        </p:txBody>
      </p:sp>
      <p:sp>
        <p:nvSpPr>
          <p:cNvPr id="3" name="Slide Number Placeholder 2">
            <a:extLst>
              <a:ext uri="{FF2B5EF4-FFF2-40B4-BE49-F238E27FC236}">
                <a16:creationId xmlns:a16="http://schemas.microsoft.com/office/drawing/2014/main" id="{512A7FF2-4256-4520-FD2A-B2B2DD0B87EC}"/>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4</a:t>
            </a:fld>
            <a:endParaRPr lang="en-AE" sz="3200" dirty="0">
              <a:latin typeface="Centaur" panose="02030504050205020304" pitchFamily="18" charset="0"/>
            </a:endParaRPr>
          </a:p>
        </p:txBody>
      </p:sp>
    </p:spTree>
    <p:extLst>
      <p:ext uri="{BB962C8B-B14F-4D97-AF65-F5344CB8AC3E}">
        <p14:creationId xmlns:p14="http://schemas.microsoft.com/office/powerpoint/2010/main" val="3571401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2A9144-FA16-519B-FFF6-1A754A6D8BF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8FF695-D841-537B-B395-2594F1CE4130}"/>
              </a:ext>
            </a:extLst>
          </p:cNvPr>
          <p:cNvPicPr>
            <a:picLocks noChangeAspect="1"/>
          </p:cNvPicPr>
          <p:nvPr/>
        </p:nvPicPr>
        <p:blipFill>
          <a:blip r:embed="rId2"/>
          <a:stretch>
            <a:fillRect/>
          </a:stretch>
        </p:blipFill>
        <p:spPr>
          <a:xfrm>
            <a:off x="0" y="0"/>
            <a:ext cx="9601200" cy="12801600"/>
          </a:xfrm>
          <a:prstGeom prst="rect">
            <a:avLst/>
          </a:prstGeom>
        </p:spPr>
      </p:pic>
      <p:sp>
        <p:nvSpPr>
          <p:cNvPr id="3" name="Slide Number Placeholder 2">
            <a:extLst>
              <a:ext uri="{FF2B5EF4-FFF2-40B4-BE49-F238E27FC236}">
                <a16:creationId xmlns:a16="http://schemas.microsoft.com/office/drawing/2014/main" id="{EF92B03C-86A5-8AAC-BF01-06154F49CF68}"/>
              </a:ext>
            </a:extLst>
          </p:cNvPr>
          <p:cNvSpPr>
            <a:spLocks noGrp="1"/>
          </p:cNvSpPr>
          <p:nvPr>
            <p:ph type="sldNum" sz="quarter" idx="12"/>
          </p:nvPr>
        </p:nvSpPr>
        <p:spPr>
          <a:xfrm>
            <a:off x="3720465" y="11229284"/>
            <a:ext cx="2160270" cy="681567"/>
          </a:xfrm>
        </p:spPr>
        <p:txBody>
          <a:bodyPr/>
          <a:lstStyle/>
          <a:p>
            <a:pPr algn="ctr"/>
            <a:fld id="{0CE3F5CF-C427-45C0-A7B3-D0A9E1F84676}" type="slidenum">
              <a:rPr lang="en-AE" sz="3200" smtClean="0">
                <a:latin typeface="Centaur" panose="02030504050205020304" pitchFamily="18" charset="0"/>
              </a:rPr>
              <a:pPr algn="ctr"/>
              <a:t>5</a:t>
            </a:fld>
            <a:endParaRPr lang="en-AE" sz="3200" dirty="0">
              <a:latin typeface="Centaur" panose="02030504050205020304" pitchFamily="18" charset="0"/>
            </a:endParaRPr>
          </a:p>
        </p:txBody>
      </p:sp>
    </p:spTree>
    <p:extLst>
      <p:ext uri="{BB962C8B-B14F-4D97-AF65-F5344CB8AC3E}">
        <p14:creationId xmlns:p14="http://schemas.microsoft.com/office/powerpoint/2010/main" val="2978921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FA110C-0208-7E19-C017-6989B114501A}"/>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EE1561D-718A-68AB-7AEA-0BCDBFDC137A}"/>
              </a:ext>
            </a:extLst>
          </p:cNvPr>
          <p:cNvSpPr txBox="1"/>
          <p:nvPr/>
        </p:nvSpPr>
        <p:spPr>
          <a:xfrm>
            <a:off x="846851" y="2523118"/>
            <a:ext cx="7907481" cy="8217634"/>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A pipe is not a perfect guide. It may be slightly out of plumb; its surface may vary; the machine may meet resistance as it climbs. The design therefore avoids relying on one rigid point of contact. Four driven wheels share the task, while spring arms press the wheel pairs toward the pipe. The arms are intended to yield enough to accommodate small variations, but not so much that the machine loses its grip.</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Compliance must be controlled. Paired flexures allow movement in the intended direction, while their spacing and rigid connections resist unwanted twisting. The frame is strengthened where loads enter the arms and motor mounts; the spring sections remain free to move. Strength belongs at the joints. Flex belongs in the spring.</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wheels follow the same idea. Their double-cone profile creates a relieved centre for the pipe, while the tire seats give the rubber a defined place to rest. The motor mounts support and locate the motors without obscuring the moving parts or preventing adjustment. Each feature has a purpose: grip, alignment, support, or access.</a:t>
            </a:r>
          </a:p>
        </p:txBody>
      </p:sp>
      <p:sp>
        <p:nvSpPr>
          <p:cNvPr id="3" name="Slide Number Placeholder 2">
            <a:extLst>
              <a:ext uri="{FF2B5EF4-FFF2-40B4-BE49-F238E27FC236}">
                <a16:creationId xmlns:a16="http://schemas.microsoft.com/office/drawing/2014/main" id="{BBEA0477-44D5-7EEB-8682-0E87A2501EB7}"/>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6</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5F317132-39F9-B55C-FCC6-9DE041FC75FF}"/>
              </a:ext>
            </a:extLst>
          </p:cNvPr>
          <p:cNvSpPr txBox="1"/>
          <p:nvPr/>
        </p:nvSpPr>
        <p:spPr>
          <a:xfrm>
            <a:off x="998307" y="829272"/>
            <a:ext cx="7604567" cy="707886"/>
          </a:xfrm>
          <a:prstGeom prst="rect">
            <a:avLst/>
          </a:prstGeom>
          <a:noFill/>
        </p:spPr>
        <p:txBody>
          <a:bodyPr wrap="square">
            <a:spAutoFit/>
          </a:bodyPr>
          <a:lstStyle/>
          <a:p>
            <a:pPr marL="0" marR="0" indent="0" algn="ctr">
              <a:buNone/>
            </a:pPr>
            <a:r>
              <a:rPr lang="en-AE" sz="4000" b="1" i="1" dirty="0">
                <a:solidFill>
                  <a:srgbClr val="370000"/>
                </a:solidFill>
                <a:effectLst/>
                <a:latin typeface="Felix Titling" panose="04060505060202020A04" pitchFamily="82" charset="0"/>
              </a:rPr>
              <a:t>The Discipline of the Climb</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1965618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8D95C9-223D-BD5C-DED3-3B792AE9EE4C}"/>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A4CB9800-73EA-A790-0F41-434F59F9A3B7}"/>
              </a:ext>
            </a:extLst>
          </p:cNvPr>
          <p:cNvSpPr txBox="1"/>
          <p:nvPr/>
        </p:nvSpPr>
        <p:spPr>
          <a:xfrm>
            <a:off x="846857" y="4193308"/>
            <a:ext cx="7907481" cy="7478970"/>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is also designed to be understood and repaired. Its structure is visible. Its motors, wheels, wiring, and controller can be inspected separately. The central plate provides a place for electronics, and the frame is kept within the competition envelope. Simplicity is not the absence of design; it is the removal of features that do not serve the mission.</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Above all, the design treats safety as part of performance. A keeper around the pipe is a secondary safeguard, not a substitute for reliable wheel contact. A soft landing is a control strategy, not a reason to leave weak joints untested. The machine must be tested repeatedly, under increasing load, before its grip and structure are trusted.</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Grace is therefore not designed to resist every movement. It is designed to distinguish between useful movement and failure: flexible where the pipe demands adaptation, rigid where the load must be carried, and cautious wherever a mistake could become a fall.</a:t>
            </a:r>
          </a:p>
        </p:txBody>
      </p:sp>
      <p:sp>
        <p:nvSpPr>
          <p:cNvPr id="3" name="Slide Number Placeholder 2">
            <a:extLst>
              <a:ext uri="{FF2B5EF4-FFF2-40B4-BE49-F238E27FC236}">
                <a16:creationId xmlns:a16="http://schemas.microsoft.com/office/drawing/2014/main" id="{D80CFA72-68FB-9D67-2C79-7BF796C3689A}"/>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7</a:t>
            </a:fld>
            <a:endParaRPr lang="en-AE" sz="3200" dirty="0">
              <a:latin typeface="Centaur" panose="02030504050205020304" pitchFamily="18" charset="0"/>
            </a:endParaRPr>
          </a:p>
        </p:txBody>
      </p:sp>
      <p:pic>
        <p:nvPicPr>
          <p:cNvPr id="5" name="Picture 4" descr="Collection of isolated copper pipes 1260947 Vector Art at Vecteezy">
            <a:extLst>
              <a:ext uri="{FF2B5EF4-FFF2-40B4-BE49-F238E27FC236}">
                <a16:creationId xmlns:a16="http://schemas.microsoft.com/office/drawing/2014/main" id="{88181612-0B97-1D8C-5269-E5688AFDA194}"/>
              </a:ext>
            </a:extLst>
          </p:cNvPr>
          <p:cNvPicPr>
            <a:picLocks noChangeAspect="1"/>
          </p:cNvPicPr>
          <p:nvPr/>
        </p:nvPicPr>
        <p:blipFill>
          <a:blip r:embed="rId2"/>
          <a:srcRect t="49134"/>
          <a:stretch>
            <a:fillRect/>
          </a:stretch>
        </p:blipFill>
        <p:spPr>
          <a:xfrm rot="10800000">
            <a:off x="529716" y="435938"/>
            <a:ext cx="9071484" cy="3076189"/>
          </a:xfrm>
          <a:prstGeom prst="rect">
            <a:avLst/>
          </a:prstGeom>
        </p:spPr>
      </p:pic>
    </p:spTree>
    <p:extLst>
      <p:ext uri="{BB962C8B-B14F-4D97-AF65-F5344CB8AC3E}">
        <p14:creationId xmlns:p14="http://schemas.microsoft.com/office/powerpoint/2010/main" val="2370219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699E78-EE68-7991-EE81-267D184BB9D0}"/>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0C516C80-FC54-1778-052A-C6D7B21EE2F6}"/>
              </a:ext>
            </a:extLst>
          </p:cNvPr>
          <p:cNvSpPr txBox="1"/>
          <p:nvPr/>
        </p:nvSpPr>
        <p:spPr>
          <a:xfrm>
            <a:off x="846859" y="1815232"/>
            <a:ext cx="7907481" cy="4893647"/>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uses compact N20-format 050 metal gearmotors with an approximate rated speed of 200 rpm at 12V. To pursue higher climbing speed, the motors are being driven at 15 V as an overdrive condition, above their nominal operating rating.</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Operating the compact motors above their nominal voltage is intended to increase speed and available output from the same lightweight drive units. If testing confirms the motors and gearboxes can handle the extra load, this can improve the vehicle’s performance-to-weight ratio without adding heavier motors. The benefit must be balanced against increased current, heat and wear.</a:t>
            </a:r>
          </a:p>
        </p:txBody>
      </p:sp>
      <p:sp>
        <p:nvSpPr>
          <p:cNvPr id="3" name="Slide Number Placeholder 2">
            <a:extLst>
              <a:ext uri="{FF2B5EF4-FFF2-40B4-BE49-F238E27FC236}">
                <a16:creationId xmlns:a16="http://schemas.microsoft.com/office/drawing/2014/main" id="{3DE39E0C-AA9F-ECCC-8187-780C0FB5E86C}"/>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8</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A2F94349-2C51-D36D-9889-578593474C8B}"/>
              </a:ext>
            </a:extLst>
          </p:cNvPr>
          <p:cNvSpPr txBox="1"/>
          <p:nvPr/>
        </p:nvSpPr>
        <p:spPr>
          <a:xfrm>
            <a:off x="998307" y="829272"/>
            <a:ext cx="7604567" cy="707886"/>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Drive System</a:t>
            </a:r>
            <a:endParaRPr lang="en-AE" sz="1600" b="1" i="0" dirty="0">
              <a:solidFill>
                <a:srgbClr val="370000"/>
              </a:solidFill>
              <a:effectLst/>
              <a:latin typeface="Felix Titling" panose="04060505060202020A04" pitchFamily="82" charset="0"/>
            </a:endParaRPr>
          </a:p>
        </p:txBody>
      </p:sp>
      <p:pic>
        <p:nvPicPr>
          <p:cNvPr id="2" name="Picture 1" descr="1PC ミニ 050/N30/N20 ウォームギアモーター DC 3V-12V 4RPM-762RPM 低速フルメタルギアボックス T 字型デ ...">
            <a:extLst>
              <a:ext uri="{FF2B5EF4-FFF2-40B4-BE49-F238E27FC236}">
                <a16:creationId xmlns:a16="http://schemas.microsoft.com/office/drawing/2014/main" id="{F8B990AB-6D66-FE78-7B32-9110738C1E83}"/>
              </a:ext>
            </a:extLst>
          </p:cNvPr>
          <p:cNvPicPr>
            <a:picLocks noChangeAspect="1"/>
          </p:cNvPicPr>
          <p:nvPr/>
        </p:nvPicPr>
        <p:blipFill>
          <a:blip r:embed="rId2"/>
          <a:srcRect t="20563" b="24026"/>
          <a:stretch>
            <a:fillRect/>
          </a:stretch>
        </p:blipFill>
        <p:spPr>
          <a:xfrm>
            <a:off x="1200140" y="7971839"/>
            <a:ext cx="7200900" cy="3990109"/>
          </a:xfrm>
          <a:prstGeom prst="rect">
            <a:avLst/>
          </a:prstGeom>
        </p:spPr>
      </p:pic>
      <p:sp>
        <p:nvSpPr>
          <p:cNvPr id="6" name="TextBox 5">
            <a:extLst>
              <a:ext uri="{FF2B5EF4-FFF2-40B4-BE49-F238E27FC236}">
                <a16:creationId xmlns:a16="http://schemas.microsoft.com/office/drawing/2014/main" id="{7C4621B7-F883-B675-0CDA-B9387451B504}"/>
              </a:ext>
            </a:extLst>
          </p:cNvPr>
          <p:cNvSpPr txBox="1"/>
          <p:nvPr/>
        </p:nvSpPr>
        <p:spPr>
          <a:xfrm>
            <a:off x="998307" y="7221114"/>
            <a:ext cx="7604567" cy="646331"/>
          </a:xfrm>
          <a:prstGeom prst="rect">
            <a:avLst/>
          </a:prstGeom>
          <a:noFill/>
        </p:spPr>
        <p:txBody>
          <a:bodyPr wrap="square">
            <a:spAutoFit/>
          </a:bodyPr>
          <a:lstStyle/>
          <a:p>
            <a:pPr marL="0" marR="0" indent="0" algn="ctr">
              <a:buNone/>
            </a:pPr>
            <a:r>
              <a:rPr lang="en-GB" sz="3600" b="1" i="1" dirty="0">
                <a:solidFill>
                  <a:srgbClr val="370000"/>
                </a:solidFill>
                <a:effectLst/>
                <a:latin typeface="Felix Titling" panose="04060505060202020A04" pitchFamily="82" charset="0"/>
              </a:rPr>
              <a:t>050            n30           N20 </a:t>
            </a:r>
            <a:endParaRPr lang="en-AE" sz="14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687861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459C7B-DAF0-BB4D-5F56-E569A34EE64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294BE8-57D9-D594-BF10-FA0EAE257C5C}"/>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9</a:t>
            </a:fld>
            <a:endParaRPr lang="en-AE" sz="3200" dirty="0">
              <a:latin typeface="Centaur" panose="02030504050205020304" pitchFamily="18" charset="0"/>
            </a:endParaRPr>
          </a:p>
        </p:txBody>
      </p:sp>
      <p:pic>
        <p:nvPicPr>
          <p:cNvPr id="5" name="Picture 4" descr="DC 3-6V 200RPM Yellow Double Axis TT Motor Plastic Gear Motor Gearbox ...">
            <a:extLst>
              <a:ext uri="{FF2B5EF4-FFF2-40B4-BE49-F238E27FC236}">
                <a16:creationId xmlns:a16="http://schemas.microsoft.com/office/drawing/2014/main" id="{B95CB906-F186-9BF6-7354-47BFAC2F0030}"/>
              </a:ext>
            </a:extLst>
          </p:cNvPr>
          <p:cNvPicPr>
            <a:picLocks noChangeAspect="1"/>
          </p:cNvPicPr>
          <p:nvPr/>
        </p:nvPicPr>
        <p:blipFill>
          <a:blip r:embed="rId2"/>
          <a:stretch>
            <a:fillRect/>
          </a:stretch>
        </p:blipFill>
        <p:spPr>
          <a:xfrm>
            <a:off x="104382" y="0"/>
            <a:ext cx="9392436" cy="9392436"/>
          </a:xfrm>
          <a:prstGeom prst="rect">
            <a:avLst/>
          </a:prstGeom>
        </p:spPr>
      </p:pic>
      <p:sp>
        <p:nvSpPr>
          <p:cNvPr id="8" name="TextBox 7">
            <a:extLst>
              <a:ext uri="{FF2B5EF4-FFF2-40B4-BE49-F238E27FC236}">
                <a16:creationId xmlns:a16="http://schemas.microsoft.com/office/drawing/2014/main" id="{9432E92D-14BD-7AFC-4A3A-A86D3A38D179}"/>
              </a:ext>
            </a:extLst>
          </p:cNvPr>
          <p:cNvSpPr txBox="1"/>
          <p:nvPr/>
        </p:nvSpPr>
        <p:spPr>
          <a:xfrm>
            <a:off x="884007" y="9143432"/>
            <a:ext cx="7604567" cy="1200329"/>
          </a:xfrm>
          <a:prstGeom prst="rect">
            <a:avLst/>
          </a:prstGeom>
          <a:noFill/>
        </p:spPr>
        <p:txBody>
          <a:bodyPr wrap="square">
            <a:spAutoFit/>
          </a:bodyPr>
          <a:lstStyle/>
          <a:p>
            <a:pPr marL="0" marR="0" indent="0" algn="ctr">
              <a:buNone/>
            </a:pPr>
            <a:r>
              <a:rPr lang="en-GB" sz="3600" b="1" i="1" dirty="0">
                <a:solidFill>
                  <a:srgbClr val="370000"/>
                </a:solidFill>
                <a:effectLst/>
                <a:latin typeface="Felix Titling" panose="04060505060202020A04" pitchFamily="82" charset="0"/>
              </a:rPr>
              <a:t>Low performance </a:t>
            </a:r>
          </a:p>
          <a:p>
            <a:pPr marL="0" marR="0" indent="0" algn="ctr">
              <a:buNone/>
            </a:pPr>
            <a:r>
              <a:rPr lang="en-GB" sz="3600" b="1" i="1" dirty="0">
                <a:solidFill>
                  <a:srgbClr val="370000"/>
                </a:solidFill>
                <a:effectLst/>
                <a:latin typeface="Felix Titling" panose="04060505060202020A04" pitchFamily="82" charset="0"/>
              </a:rPr>
              <a:t>TT Geared motor</a:t>
            </a:r>
            <a:endParaRPr lang="en-AE" sz="14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1701975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B6599D-2D5F-A3DC-9D73-0D86A9F41C72}"/>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DF57EB75-4063-7EB7-0C19-85847BB4558D}"/>
              </a:ext>
            </a:extLst>
          </p:cNvPr>
          <p:cNvSpPr txBox="1"/>
          <p:nvPr/>
        </p:nvSpPr>
        <p:spPr>
          <a:xfrm>
            <a:off x="846859" y="1815232"/>
            <a:ext cx="7907481" cy="9325630"/>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uses a compact ESP32-C3 Mini as its onboard controller. Its small footprint and low mass suit a machine that must carry its own electronics while climbing: less weight for the wheels to lift, and more room on the centre plate for the battery, wiring, and supporting components.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Despite its size, the controller provides enough processing capacity and GPIO connections for the vehicle’s control tasks. The current firmware reads a start button, switches the motors through an external driver, and controls a 12-pixel RGB LED ring. The motor driver supplies the motor current; the ESP32-C3 provides the control signals rather than powering the motors directly.</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controller is intended to support the sequence-based operation the challenge requires. Timing, position sensing, and other mission steps can be added as the hardware develops. Wireless functions are not used for competition operation.</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choice reflects the project’s wider approach: use a controller that is compact and capable, but keep the complete system light, self-contained, and straightforward to understand.</a:t>
            </a:r>
          </a:p>
        </p:txBody>
      </p:sp>
      <p:sp>
        <p:nvSpPr>
          <p:cNvPr id="3" name="Slide Number Placeholder 2">
            <a:extLst>
              <a:ext uri="{FF2B5EF4-FFF2-40B4-BE49-F238E27FC236}">
                <a16:creationId xmlns:a16="http://schemas.microsoft.com/office/drawing/2014/main" id="{DF37770E-90F9-09F8-DFEC-D73CB1D533B0}"/>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10</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6AAA3761-6F7D-1558-A570-CFC8D09C29E6}"/>
              </a:ext>
            </a:extLst>
          </p:cNvPr>
          <p:cNvSpPr txBox="1"/>
          <p:nvPr/>
        </p:nvSpPr>
        <p:spPr>
          <a:xfrm>
            <a:off x="998314" y="491793"/>
            <a:ext cx="7604567"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A Small Brain for a Lightweight Climber</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3627299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CA35E9-AD27-076E-A59F-927318AA4AE6}"/>
            </a:ext>
          </a:extLst>
        </p:cNvPr>
        <p:cNvGrpSpPr/>
        <p:nvPr/>
      </p:nvGrpSpPr>
      <p:grpSpPr>
        <a:xfrm>
          <a:off x="0" y="0"/>
          <a:ext cx="0" cy="0"/>
          <a:chOff x="0" y="0"/>
          <a:chExt cx="0" cy="0"/>
        </a:xfrm>
      </p:grpSpPr>
      <p:pic>
        <p:nvPicPr>
          <p:cNvPr id="5" name="Picture 4" descr="ESP32-C3 Super Mini com WiFi e Bluetooth com USB-C - Usinainfo">
            <a:extLst>
              <a:ext uri="{FF2B5EF4-FFF2-40B4-BE49-F238E27FC236}">
                <a16:creationId xmlns:a16="http://schemas.microsoft.com/office/drawing/2014/main" id="{CFE7789D-40DD-713B-6799-44DBE510CA07}"/>
              </a:ext>
            </a:extLst>
          </p:cNvPr>
          <p:cNvPicPr>
            <a:picLocks noChangeAspect="1"/>
          </p:cNvPicPr>
          <p:nvPr/>
        </p:nvPicPr>
        <p:blipFill>
          <a:blip r:embed="rId2"/>
          <a:stretch>
            <a:fillRect/>
          </a:stretch>
        </p:blipFill>
        <p:spPr>
          <a:xfrm>
            <a:off x="0" y="6400801"/>
            <a:ext cx="8477504" cy="6400800"/>
          </a:xfrm>
          <a:prstGeom prst="rect">
            <a:avLst/>
          </a:prstGeom>
        </p:spPr>
      </p:pic>
      <p:sp>
        <p:nvSpPr>
          <p:cNvPr id="3" name="Slide Number Placeholder 2">
            <a:extLst>
              <a:ext uri="{FF2B5EF4-FFF2-40B4-BE49-F238E27FC236}">
                <a16:creationId xmlns:a16="http://schemas.microsoft.com/office/drawing/2014/main" id="{87C14B03-2188-6F58-31DA-7199EE280FC6}"/>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11</a:t>
            </a:fld>
            <a:endParaRPr lang="en-AE" sz="3200" dirty="0">
              <a:latin typeface="Centaur" panose="02030504050205020304" pitchFamily="18" charset="0"/>
            </a:endParaRPr>
          </a:p>
        </p:txBody>
      </p:sp>
      <p:pic>
        <p:nvPicPr>
          <p:cNvPr id="2" name="Picture 1" descr="ARDUINO UNO - TÁCTILPOS">
            <a:extLst>
              <a:ext uri="{FF2B5EF4-FFF2-40B4-BE49-F238E27FC236}">
                <a16:creationId xmlns:a16="http://schemas.microsoft.com/office/drawing/2014/main" id="{CA6298F7-8E89-7D64-6390-EFFE9AE87762}"/>
              </a:ext>
            </a:extLst>
          </p:cNvPr>
          <p:cNvPicPr>
            <a:picLocks noChangeAspect="1"/>
          </p:cNvPicPr>
          <p:nvPr/>
        </p:nvPicPr>
        <p:blipFill>
          <a:blip r:embed="rId3"/>
          <a:srcRect b="3281"/>
          <a:stretch>
            <a:fillRect/>
          </a:stretch>
        </p:blipFill>
        <p:spPr>
          <a:xfrm>
            <a:off x="72736" y="115246"/>
            <a:ext cx="9528464" cy="6825882"/>
          </a:xfrm>
          <a:prstGeom prst="rect">
            <a:avLst/>
          </a:prstGeom>
        </p:spPr>
      </p:pic>
    </p:spTree>
    <p:extLst>
      <p:ext uri="{BB962C8B-B14F-4D97-AF65-F5344CB8AC3E}">
        <p14:creationId xmlns:p14="http://schemas.microsoft.com/office/powerpoint/2010/main" val="4060362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22F559-8840-3321-BB52-C78AE2D75036}"/>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8CBC157F-A512-B81C-609D-AD54E7C053D0}"/>
              </a:ext>
            </a:extLst>
          </p:cNvPr>
          <p:cNvSpPr txBox="1"/>
          <p:nvPr/>
        </p:nvSpPr>
        <p:spPr>
          <a:xfrm>
            <a:off x="846859" y="1815232"/>
            <a:ext cx="7907481" cy="9325630"/>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uses an L298N dual H-bridge motor-driver board to control its geared DC motors. Smaller driver modules were considered, but the candidate boards’ motor-voltage ratings did not provide enough margin for the planned supply. The L298N’s motor supply is rated up to 46 V, giving substantial voltage headroom for the project’s sub-15 V bus.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driver switches motor direction and speed under commands from the ESP32-C3. The motors draw their power from the battery through the driver; the microcontroller sends only the control signals.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Voltage rating alone does not determine whether a driver is suitable. The L298N is an older bipolar design and loses more voltage as heat than modern MOSFET-based drivers. Its current capacity also depends on the module’s heatsinking, motor load, and operating conditions. For Project Grace, motor current and driver temperature should be checked under climbing and stall conditions, particularly if the motors are overdriven.</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L298N was selected for its supply-voltage headroom and accessible dual-motor control. Its performance must still be validated with the chosen motors and battery.</a:t>
            </a:r>
          </a:p>
        </p:txBody>
      </p:sp>
      <p:sp>
        <p:nvSpPr>
          <p:cNvPr id="3" name="Slide Number Placeholder 2">
            <a:extLst>
              <a:ext uri="{FF2B5EF4-FFF2-40B4-BE49-F238E27FC236}">
                <a16:creationId xmlns:a16="http://schemas.microsoft.com/office/drawing/2014/main" id="{63ADD5C5-FA96-2276-C55C-F0C2B811719D}"/>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12</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7C0337CF-C9C6-10FE-AFE5-CC344F3D6BC8}"/>
              </a:ext>
            </a:extLst>
          </p:cNvPr>
          <p:cNvSpPr txBox="1"/>
          <p:nvPr/>
        </p:nvSpPr>
        <p:spPr>
          <a:xfrm>
            <a:off x="998314" y="491793"/>
            <a:ext cx="7604567"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Voltage Headroom for the Drive System</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3483692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4CC17B-5D36-27DA-884F-D0260026698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B611057-2456-26F9-74DC-721F6865875C}"/>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13</a:t>
            </a:fld>
            <a:endParaRPr lang="en-AE" sz="3200" dirty="0">
              <a:latin typeface="Centaur" panose="02030504050205020304" pitchFamily="18" charset="0"/>
            </a:endParaRPr>
          </a:p>
        </p:txBody>
      </p:sp>
      <p:pic>
        <p:nvPicPr>
          <p:cNvPr id="4" name="Picture 3" descr="L298n Motor Driver Module Circuit Diagram">
            <a:extLst>
              <a:ext uri="{FF2B5EF4-FFF2-40B4-BE49-F238E27FC236}">
                <a16:creationId xmlns:a16="http://schemas.microsoft.com/office/drawing/2014/main" id="{A1E309D3-A519-F208-B27F-34F9BBE79275}"/>
              </a:ext>
            </a:extLst>
          </p:cNvPr>
          <p:cNvPicPr>
            <a:picLocks noChangeAspect="1"/>
          </p:cNvPicPr>
          <p:nvPr/>
        </p:nvPicPr>
        <p:blipFill>
          <a:blip r:embed="rId2"/>
          <a:srcRect t="9994" b="2641"/>
          <a:stretch>
            <a:fillRect/>
          </a:stretch>
        </p:blipFill>
        <p:spPr>
          <a:xfrm>
            <a:off x="1200148" y="115247"/>
            <a:ext cx="7200900" cy="6285554"/>
          </a:xfrm>
          <a:prstGeom prst="rect">
            <a:avLst/>
          </a:prstGeom>
        </p:spPr>
      </p:pic>
      <p:pic>
        <p:nvPicPr>
          <p:cNvPr id="6" name="Picture 5" descr="L298N Mini Motor Driver Module 2 Way Dual H Bridge MX1508 - Indian ...">
            <a:extLst>
              <a:ext uri="{FF2B5EF4-FFF2-40B4-BE49-F238E27FC236}">
                <a16:creationId xmlns:a16="http://schemas.microsoft.com/office/drawing/2014/main" id="{95C63321-96EC-580C-C12A-507A29DD14F6}"/>
              </a:ext>
            </a:extLst>
          </p:cNvPr>
          <p:cNvPicPr>
            <a:picLocks noChangeAspect="1"/>
          </p:cNvPicPr>
          <p:nvPr/>
        </p:nvPicPr>
        <p:blipFill>
          <a:blip r:embed="rId3"/>
          <a:stretch>
            <a:fillRect/>
          </a:stretch>
        </p:blipFill>
        <p:spPr>
          <a:xfrm>
            <a:off x="218209" y="6728112"/>
            <a:ext cx="4582391" cy="4582391"/>
          </a:xfrm>
          <a:prstGeom prst="rect">
            <a:avLst/>
          </a:prstGeom>
        </p:spPr>
      </p:pic>
      <p:pic>
        <p:nvPicPr>
          <p:cNvPr id="7" name="Picture 6" descr="COD☆Motor Protection is suitable for D1 Mini Mini I2C dual motor driver ...">
            <a:extLst>
              <a:ext uri="{FF2B5EF4-FFF2-40B4-BE49-F238E27FC236}">
                <a16:creationId xmlns:a16="http://schemas.microsoft.com/office/drawing/2014/main" id="{FDC37311-FF45-150E-71B8-3882A1D286AB}"/>
              </a:ext>
            </a:extLst>
          </p:cNvPr>
          <p:cNvPicPr>
            <a:picLocks noChangeAspect="1"/>
          </p:cNvPicPr>
          <p:nvPr/>
        </p:nvPicPr>
        <p:blipFill>
          <a:blip r:embed="rId4"/>
          <a:srcRect t="8611"/>
          <a:stretch>
            <a:fillRect/>
          </a:stretch>
        </p:blipFill>
        <p:spPr>
          <a:xfrm>
            <a:off x="4654607" y="6899563"/>
            <a:ext cx="4826576" cy="4410939"/>
          </a:xfrm>
          <a:prstGeom prst="rect">
            <a:avLst/>
          </a:prstGeom>
        </p:spPr>
      </p:pic>
    </p:spTree>
    <p:extLst>
      <p:ext uri="{BB962C8B-B14F-4D97-AF65-F5344CB8AC3E}">
        <p14:creationId xmlns:p14="http://schemas.microsoft.com/office/powerpoint/2010/main" val="2733922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999E28-CF82-5F16-70F5-D2A9553B15FC}"/>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0EE6E756-E727-619D-2F78-9B8522FC15A9}"/>
              </a:ext>
            </a:extLst>
          </p:cNvPr>
          <p:cNvSpPr txBox="1"/>
          <p:nvPr/>
        </p:nvSpPr>
        <p:spPr>
          <a:xfrm>
            <a:off x="846859" y="1815232"/>
            <a:ext cx="7907481" cy="6370975"/>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uses a WS2812 RGB LED ring, controlled through a single data pin. Each LED is individually addressable, allowing the ESP32-C3 to set colours and patterns around the ring without needing a separate control wire for every light.</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ring gives the vehicle a clear visual identity during operation. In the current controller program, it displays a colourful sparkle animation while idle and changes to green when the motors are running. Its brightness can be adjusted in software, helping the status remain visible without drawing more power than necessary.</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ring was chosen for its compact form, simple wiring, and flexibility for animation. It provides an immediate visual cue to judges and spectators, helping Project Grace stand out while also communicating its operating state.</a:t>
            </a:r>
          </a:p>
        </p:txBody>
      </p:sp>
      <p:sp>
        <p:nvSpPr>
          <p:cNvPr id="3" name="Slide Number Placeholder 2">
            <a:extLst>
              <a:ext uri="{FF2B5EF4-FFF2-40B4-BE49-F238E27FC236}">
                <a16:creationId xmlns:a16="http://schemas.microsoft.com/office/drawing/2014/main" id="{64C60BEC-852D-19C0-C40A-EC66FC8C0D22}"/>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14</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2EA7C8CE-AC84-E71B-51FD-6556E6F0EF0D}"/>
              </a:ext>
            </a:extLst>
          </p:cNvPr>
          <p:cNvSpPr txBox="1"/>
          <p:nvPr/>
        </p:nvSpPr>
        <p:spPr>
          <a:xfrm>
            <a:off x="998314" y="491793"/>
            <a:ext cx="7604567"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A Ring of Addressable Light</a:t>
            </a:r>
            <a:endParaRPr lang="en-AE" sz="1600" b="1" i="0" dirty="0">
              <a:solidFill>
                <a:srgbClr val="370000"/>
              </a:solidFill>
              <a:effectLst/>
              <a:latin typeface="Felix Titling" panose="04060505060202020A04" pitchFamily="82" charset="0"/>
            </a:endParaRPr>
          </a:p>
        </p:txBody>
      </p:sp>
      <p:pic>
        <p:nvPicPr>
          <p:cNvPr id="5" name="Picture 4" descr="LEDs: Understanding the Benefits of Light Emitting Diodes | How to ...">
            <a:extLst>
              <a:ext uri="{FF2B5EF4-FFF2-40B4-BE49-F238E27FC236}">
                <a16:creationId xmlns:a16="http://schemas.microsoft.com/office/drawing/2014/main" id="{6E8C5A73-155E-96CC-EBC7-BA5A2F2D2C6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rcRect t="18418" b="7713"/>
          <a:stretch>
            <a:fillRect/>
          </a:stretch>
        </p:blipFill>
        <p:spPr>
          <a:xfrm>
            <a:off x="1200147" y="8322932"/>
            <a:ext cx="7200900" cy="3545129"/>
          </a:xfrm>
          <a:prstGeom prst="rect">
            <a:avLst/>
          </a:prstGeom>
        </p:spPr>
      </p:pic>
    </p:spTree>
    <p:extLst>
      <p:ext uri="{BB962C8B-B14F-4D97-AF65-F5344CB8AC3E}">
        <p14:creationId xmlns:p14="http://schemas.microsoft.com/office/powerpoint/2010/main" val="2187333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012FAB-D887-20FD-12BD-E00308A5309F}"/>
            </a:ext>
          </a:extLst>
        </p:cNvPr>
        <p:cNvGrpSpPr/>
        <p:nvPr/>
      </p:nvGrpSpPr>
      <p:grpSpPr>
        <a:xfrm>
          <a:off x="0" y="0"/>
          <a:ext cx="0" cy="0"/>
          <a:chOff x="0" y="0"/>
          <a:chExt cx="0" cy="0"/>
        </a:xfrm>
      </p:grpSpPr>
      <p:pic>
        <p:nvPicPr>
          <p:cNvPr id="2" name="Picture 1" descr="HKD WS2812 NEOPIXEL RING-8 LED - The Foundation of Real Work - Tools ...">
            <a:extLst>
              <a:ext uri="{FF2B5EF4-FFF2-40B4-BE49-F238E27FC236}">
                <a16:creationId xmlns:a16="http://schemas.microsoft.com/office/drawing/2014/main" id="{C53CF033-3A4D-84EA-68D1-074B11D490BC}"/>
              </a:ext>
            </a:extLst>
          </p:cNvPr>
          <p:cNvPicPr>
            <a:picLocks noChangeAspect="1"/>
          </p:cNvPicPr>
          <p:nvPr/>
        </p:nvPicPr>
        <p:blipFill>
          <a:blip r:embed="rId2"/>
          <a:stretch>
            <a:fillRect/>
          </a:stretch>
        </p:blipFill>
        <p:spPr>
          <a:xfrm>
            <a:off x="1200148" y="5600700"/>
            <a:ext cx="7200900" cy="7200900"/>
          </a:xfrm>
          <a:prstGeom prst="rect">
            <a:avLst/>
          </a:prstGeom>
        </p:spPr>
      </p:pic>
      <p:sp>
        <p:nvSpPr>
          <p:cNvPr id="3" name="Slide Number Placeholder 2">
            <a:extLst>
              <a:ext uri="{FF2B5EF4-FFF2-40B4-BE49-F238E27FC236}">
                <a16:creationId xmlns:a16="http://schemas.microsoft.com/office/drawing/2014/main" id="{A2A88DC4-D9E5-5DC0-21FE-F25588C9F1B4}"/>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15</a:t>
            </a:fld>
            <a:endParaRPr lang="en-AE" sz="3200" dirty="0">
              <a:latin typeface="Centaur" panose="02030504050205020304" pitchFamily="18" charset="0"/>
            </a:endParaRPr>
          </a:p>
        </p:txBody>
      </p:sp>
      <p:pic>
        <p:nvPicPr>
          <p:cNvPr id="5" name="Picture 4" descr="Anillo 24 Leds Rgb 5050 Ws2812 Neopixel Ring 66mm X 52.5mm | Cuotas sin ...">
            <a:extLst>
              <a:ext uri="{FF2B5EF4-FFF2-40B4-BE49-F238E27FC236}">
                <a16:creationId xmlns:a16="http://schemas.microsoft.com/office/drawing/2014/main" id="{B94EDC27-1BA3-B6C5-FE32-A242F3D227AB}"/>
              </a:ext>
            </a:extLst>
          </p:cNvPr>
          <p:cNvPicPr>
            <a:picLocks noChangeAspect="1"/>
          </p:cNvPicPr>
          <p:nvPr/>
        </p:nvPicPr>
        <p:blipFill>
          <a:blip r:embed="rId3"/>
          <a:stretch>
            <a:fillRect/>
          </a:stretch>
        </p:blipFill>
        <p:spPr>
          <a:xfrm>
            <a:off x="1624874" y="466407"/>
            <a:ext cx="6351447" cy="5322513"/>
          </a:xfrm>
          <a:prstGeom prst="rect">
            <a:avLst/>
          </a:prstGeom>
        </p:spPr>
      </p:pic>
    </p:spTree>
    <p:extLst>
      <p:ext uri="{BB962C8B-B14F-4D97-AF65-F5344CB8AC3E}">
        <p14:creationId xmlns:p14="http://schemas.microsoft.com/office/powerpoint/2010/main" val="4212197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FC74B6-C887-8F69-0805-15685E5B734F}"/>
            </a:ext>
          </a:extLst>
        </p:cNvPr>
        <p:cNvGrpSpPr/>
        <p:nvPr/>
      </p:nvGrpSpPr>
      <p:grpSpPr>
        <a:xfrm>
          <a:off x="0" y="0"/>
          <a:ext cx="0" cy="0"/>
          <a:chOff x="0" y="0"/>
          <a:chExt cx="0" cy="0"/>
        </a:xfrm>
      </p:grpSpPr>
      <p:pic>
        <p:nvPicPr>
          <p:cNvPr id="6" name="Picture 5" descr="Custom Spacing 2.54 Color Double-Ended Connection Wire DuPont Wire ...">
            <a:extLst>
              <a:ext uri="{FF2B5EF4-FFF2-40B4-BE49-F238E27FC236}">
                <a16:creationId xmlns:a16="http://schemas.microsoft.com/office/drawing/2014/main" id="{AED40CA4-1CED-7A7F-6666-D41C4567FD8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000"/>
                    </a14:imgEffect>
                  </a14:imgLayer>
                </a14:imgProps>
              </a:ext>
            </a:extLst>
          </a:blip>
          <a:srcRect l="29557" r="27480"/>
          <a:stretch>
            <a:fillRect/>
          </a:stretch>
        </p:blipFill>
        <p:spPr>
          <a:xfrm rot="5400000">
            <a:off x="2906443" y="6383396"/>
            <a:ext cx="3788307" cy="8817609"/>
          </a:xfrm>
          <a:prstGeom prst="rect">
            <a:avLst/>
          </a:prstGeom>
        </p:spPr>
      </p:pic>
      <p:sp>
        <p:nvSpPr>
          <p:cNvPr id="21" name="TextBox 20">
            <a:extLst>
              <a:ext uri="{FF2B5EF4-FFF2-40B4-BE49-F238E27FC236}">
                <a16:creationId xmlns:a16="http://schemas.microsoft.com/office/drawing/2014/main" id="{5558AFFB-C445-88DD-F66A-34726BE9BC1D}"/>
              </a:ext>
            </a:extLst>
          </p:cNvPr>
          <p:cNvSpPr txBox="1"/>
          <p:nvPr/>
        </p:nvSpPr>
        <p:spPr>
          <a:xfrm>
            <a:off x="846859" y="1815232"/>
            <a:ext cx="7907481" cy="7478970"/>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uses an MG90S micro servo to operate the chain-release mechanism. Compared with the familiar blue 9 g servo, the MG90S has a metal gear train that is better suited to repeated loading and impact. This makes it a more robust choice for controlling the release of the hanging chain.</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chain load is approximately 300 g. That load is not necessarily carried directly by the servo gears: the mechanism’s geometry determines how much force and torque reach the servo. The servo horn, linkage, mounting, and release point must all be designed to avoid excessive leverage on the output shaft.</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MG90S was selected for its compact size and metal gears, providing a stronger-feeling option for this mechanism without adding a large actuator. Its holding ability still needs to be verified with the finished linkage and a controlled load test; metal gears alone do not guarantee that the servo can safely support the full chain load.</a:t>
            </a:r>
          </a:p>
        </p:txBody>
      </p:sp>
      <p:sp>
        <p:nvSpPr>
          <p:cNvPr id="3" name="Slide Number Placeholder 2">
            <a:extLst>
              <a:ext uri="{FF2B5EF4-FFF2-40B4-BE49-F238E27FC236}">
                <a16:creationId xmlns:a16="http://schemas.microsoft.com/office/drawing/2014/main" id="{521DCC72-0FAE-B255-AD6A-332FC1106EE1}"/>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16</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7C53ECAB-9D25-41DC-8EEF-909F06FFB35D}"/>
              </a:ext>
            </a:extLst>
          </p:cNvPr>
          <p:cNvSpPr txBox="1"/>
          <p:nvPr/>
        </p:nvSpPr>
        <p:spPr>
          <a:xfrm>
            <a:off x="998314" y="491793"/>
            <a:ext cx="7604567"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Metal Gears for a Demanding Task</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276974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67BA49-8C29-016C-169C-EFF05355645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6654D7-1889-4623-7591-F081BE08735A}"/>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17</a:t>
            </a:fld>
            <a:endParaRPr lang="en-AE" sz="3200" dirty="0">
              <a:latin typeface="Centaur" panose="02030504050205020304" pitchFamily="18" charset="0"/>
            </a:endParaRPr>
          </a:p>
        </p:txBody>
      </p:sp>
      <p:pic>
        <p:nvPicPr>
          <p:cNvPr id="4" name="Picture 3" descr="MG90S 9g Mini servos - PCB HERO">
            <a:extLst>
              <a:ext uri="{FF2B5EF4-FFF2-40B4-BE49-F238E27FC236}">
                <a16:creationId xmlns:a16="http://schemas.microsoft.com/office/drawing/2014/main" id="{298C2585-B98D-DD48-CC32-6555C85DF01F}"/>
              </a:ext>
            </a:extLst>
          </p:cNvPr>
          <p:cNvPicPr>
            <a:picLocks noChangeAspect="1"/>
          </p:cNvPicPr>
          <p:nvPr/>
        </p:nvPicPr>
        <p:blipFill>
          <a:blip r:embed="rId2"/>
          <a:stretch>
            <a:fillRect/>
          </a:stretch>
        </p:blipFill>
        <p:spPr>
          <a:xfrm>
            <a:off x="1200148" y="6400800"/>
            <a:ext cx="7200900" cy="4932340"/>
          </a:xfrm>
          <a:prstGeom prst="rect">
            <a:avLst/>
          </a:prstGeom>
        </p:spPr>
      </p:pic>
      <p:pic>
        <p:nvPicPr>
          <p:cNvPr id="6" name="Picture 5" descr="How to Use the SG90 Servo Motor with Arduino - 38-3D">
            <a:extLst>
              <a:ext uri="{FF2B5EF4-FFF2-40B4-BE49-F238E27FC236}">
                <a16:creationId xmlns:a16="http://schemas.microsoft.com/office/drawing/2014/main" id="{5CF38D9F-307F-DC9A-8F48-79C16C7EFD34}"/>
              </a:ext>
            </a:extLst>
          </p:cNvPr>
          <p:cNvPicPr>
            <a:picLocks noChangeAspect="1"/>
          </p:cNvPicPr>
          <p:nvPr/>
        </p:nvPicPr>
        <p:blipFill>
          <a:blip r:embed="rId3"/>
          <a:stretch>
            <a:fillRect/>
          </a:stretch>
        </p:blipFill>
        <p:spPr>
          <a:xfrm>
            <a:off x="1935307" y="597478"/>
            <a:ext cx="5730586" cy="5730586"/>
          </a:xfrm>
          <a:prstGeom prst="rect">
            <a:avLst/>
          </a:prstGeom>
        </p:spPr>
      </p:pic>
    </p:spTree>
    <p:extLst>
      <p:ext uri="{BB962C8B-B14F-4D97-AF65-F5344CB8AC3E}">
        <p14:creationId xmlns:p14="http://schemas.microsoft.com/office/powerpoint/2010/main" val="1369500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C667-1197-58B8-1752-2615A8ABA03C}"/>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20EBBF6-0F9A-93A5-B417-9645DD24A1E0}"/>
              </a:ext>
            </a:extLst>
          </p:cNvPr>
          <p:cNvSpPr txBox="1"/>
          <p:nvPr/>
        </p:nvSpPr>
        <p:spPr>
          <a:xfrm>
            <a:off x="846859" y="1815232"/>
            <a:ext cx="7907481" cy="8217634"/>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Grace’s spring arms and accordion flexures are designed to deflect as the wheels grip the pipe. Their dimensions were selected around PETG’s balance of stiffness, toughness and strain capacity. The material must flex under load, return toward its original shape, and tolerate repeated movement without cracking. PETG can also creep under sustained load, especially when warm, so long-term wheel preload still needs testing.</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Changing filament changes the frame’s mechanical response. PLA is generally stiffer than PETG; the same flexure may deflect less under load, increasing stress around beam roots and joints. ABS may be more compliant than PLA, but its shrinkage and warping can alter alignment and wheel spacing. Actual properties depend on filament grade and print settings.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Layer orientation and adhesion also affect flexure strength and fatigue life. After printing, cycle the arms and inspect for cracks, delamination or permanent bending. Treat PLA or ABS as a material change: test the printed frame and adjust flexure geometry or preload if required.</a:t>
            </a:r>
          </a:p>
        </p:txBody>
      </p:sp>
      <p:sp>
        <p:nvSpPr>
          <p:cNvPr id="3" name="Slide Number Placeholder 2">
            <a:extLst>
              <a:ext uri="{FF2B5EF4-FFF2-40B4-BE49-F238E27FC236}">
                <a16:creationId xmlns:a16="http://schemas.microsoft.com/office/drawing/2014/main" id="{45EA6A1D-49BE-310C-D9F1-3FEC0B8A1190}"/>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18</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49159E62-B4CA-FCEB-2D25-46E7B2A6965E}"/>
              </a:ext>
            </a:extLst>
          </p:cNvPr>
          <p:cNvSpPr txBox="1"/>
          <p:nvPr/>
        </p:nvSpPr>
        <p:spPr>
          <a:xfrm>
            <a:off x="998314" y="491793"/>
            <a:ext cx="7604567" cy="707886"/>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Choice of filament</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2232031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a:extLst>
            <a:ext uri="{FF2B5EF4-FFF2-40B4-BE49-F238E27FC236}">
              <a16:creationId xmlns:a16="http://schemas.microsoft.com/office/drawing/2014/main" id="{1BCB5C79-946C-4006-A345-23825C4C091E}"/>
            </a:ext>
          </a:extLst>
        </p:cNvPr>
        <p:cNvGrpSpPr/>
        <p:nvPr/>
      </p:nvGrpSpPr>
      <p:grpSpPr>
        <a:xfrm>
          <a:off x="0" y="0"/>
          <a:ext cx="0" cy="0"/>
          <a:chOff x="0" y="0"/>
          <a:chExt cx="0" cy="0"/>
        </a:xfrm>
      </p:grpSpPr>
      <p:pic>
        <p:nvPicPr>
          <p:cNvPr id="7" name="Picture 6" descr="Filament Types - 3D Print Trend Page">
            <a:extLst>
              <a:ext uri="{FF2B5EF4-FFF2-40B4-BE49-F238E27FC236}">
                <a16:creationId xmlns:a16="http://schemas.microsoft.com/office/drawing/2014/main" id="{4453570D-5C16-4632-3EFE-C014452122A3}"/>
              </a:ext>
            </a:extLst>
          </p:cNvPr>
          <p:cNvPicPr>
            <a:picLocks noChangeAspect="1"/>
          </p:cNvPicPr>
          <p:nvPr/>
        </p:nvPicPr>
        <p:blipFill>
          <a:blip r:embed="rId2"/>
          <a:stretch>
            <a:fillRect/>
          </a:stretch>
        </p:blipFill>
        <p:spPr>
          <a:xfrm rot="16200000">
            <a:off x="-1600200" y="3050383"/>
            <a:ext cx="12801600" cy="6700837"/>
          </a:xfrm>
          <a:prstGeom prst="rect">
            <a:avLst/>
          </a:prstGeom>
        </p:spPr>
      </p:pic>
      <p:sp>
        <p:nvSpPr>
          <p:cNvPr id="3" name="Slide Number Placeholder 2">
            <a:extLst>
              <a:ext uri="{FF2B5EF4-FFF2-40B4-BE49-F238E27FC236}">
                <a16:creationId xmlns:a16="http://schemas.microsoft.com/office/drawing/2014/main" id="{5EBA25CD-AE84-5AFF-1AC5-27B0061C50E9}"/>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19</a:t>
            </a:fld>
            <a:endParaRPr lang="en-AE" sz="3200" dirty="0">
              <a:latin typeface="Centaur" panose="02030504050205020304" pitchFamily="18" charset="0"/>
            </a:endParaRPr>
          </a:p>
        </p:txBody>
      </p:sp>
    </p:spTree>
    <p:extLst>
      <p:ext uri="{BB962C8B-B14F-4D97-AF65-F5344CB8AC3E}">
        <p14:creationId xmlns:p14="http://schemas.microsoft.com/office/powerpoint/2010/main" val="422014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2A7E7-160F-6A0F-DD05-1DF61C1C021C}"/>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2455474-D82E-F8CB-FE19-8524833E309D}"/>
              </a:ext>
            </a:extLst>
          </p:cNvPr>
          <p:cNvSpPr txBox="1"/>
          <p:nvPr/>
        </p:nvSpPr>
        <p:spPr>
          <a:xfrm>
            <a:off x="846859" y="1815232"/>
            <a:ext cx="7907481" cy="7109639"/>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Red was chosen as more than a colour. It is the mark of life moving through the machine: warmth, effort and persistence made visible. Like blood, it signifies what must keep flowing for the body to endure. In Project Grace, that image belongs to the frame—not as decoration, but as a reminder that every part has a purpose in the act of ascent.</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red body stands against the pipe, the workshop and the ordinary grey of unmade things. It makes the mechanism unmistakable: a signal of intent, a small banner raised before the climb begins. Each arm bends; each wheel holds; each spring returns. The colour gathers those separate motions into one identity.</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Red also carries a warning within its beauty. This machine depends on sound material, careful assembly and tested flexures. It must be built with respect for its limits. The colour is therefore both vow and witness: Grace will reach upward, but only through the strength prepared beneath it.</a:t>
            </a:r>
          </a:p>
        </p:txBody>
      </p:sp>
      <p:sp>
        <p:nvSpPr>
          <p:cNvPr id="3" name="Slide Number Placeholder 2">
            <a:extLst>
              <a:ext uri="{FF2B5EF4-FFF2-40B4-BE49-F238E27FC236}">
                <a16:creationId xmlns:a16="http://schemas.microsoft.com/office/drawing/2014/main" id="{36CE6BF6-DB2C-6B56-7DB2-94EF0CF684AE}"/>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20</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D626B16B-5667-9C6C-4260-304A25FD56F6}"/>
              </a:ext>
            </a:extLst>
          </p:cNvPr>
          <p:cNvSpPr txBox="1"/>
          <p:nvPr/>
        </p:nvSpPr>
        <p:spPr>
          <a:xfrm>
            <a:off x="998314" y="491793"/>
            <a:ext cx="7604567" cy="707886"/>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Blood red in sacrifice</a:t>
            </a:r>
            <a:endParaRPr lang="en-AE" sz="1600" b="1" i="0" dirty="0">
              <a:solidFill>
                <a:srgbClr val="370000"/>
              </a:solidFill>
              <a:effectLst/>
              <a:latin typeface="Felix Titling" panose="04060505060202020A04" pitchFamily="82" charset="0"/>
            </a:endParaRPr>
          </a:p>
        </p:txBody>
      </p:sp>
      <p:pic>
        <p:nvPicPr>
          <p:cNvPr id="2" name="Picture 1" descr="What is visible light? | Live Science">
            <a:extLst>
              <a:ext uri="{FF2B5EF4-FFF2-40B4-BE49-F238E27FC236}">
                <a16:creationId xmlns:a16="http://schemas.microsoft.com/office/drawing/2014/main" id="{39F106E9-61B8-FDB8-7814-6153D31B3AD0}"/>
              </a:ext>
            </a:extLst>
          </p:cNvPr>
          <p:cNvPicPr>
            <a:picLocks noChangeAspect="1"/>
          </p:cNvPicPr>
          <p:nvPr/>
        </p:nvPicPr>
        <p:blipFill>
          <a:blip r:embed="rId2"/>
          <a:srcRect b="46152"/>
          <a:stretch>
            <a:fillRect/>
          </a:stretch>
        </p:blipFill>
        <p:spPr>
          <a:xfrm>
            <a:off x="-3" y="8924871"/>
            <a:ext cx="9601200" cy="2908156"/>
          </a:xfrm>
          <a:prstGeom prst="rect">
            <a:avLst/>
          </a:prstGeom>
        </p:spPr>
      </p:pic>
    </p:spTree>
    <p:extLst>
      <p:ext uri="{BB962C8B-B14F-4D97-AF65-F5344CB8AC3E}">
        <p14:creationId xmlns:p14="http://schemas.microsoft.com/office/powerpoint/2010/main" val="4291290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F79343-9BC7-16ED-A239-E9B7993C682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88307AF-FA86-4913-6CCD-370D43D6C131}"/>
              </a:ext>
            </a:extLst>
          </p:cNvPr>
          <p:cNvPicPr>
            <a:picLocks noChangeAspect="1"/>
          </p:cNvPicPr>
          <p:nvPr/>
        </p:nvPicPr>
        <p:blipFill>
          <a:blip r:embed="rId2"/>
          <a:stretch>
            <a:fillRect/>
          </a:stretch>
        </p:blipFill>
        <p:spPr>
          <a:xfrm>
            <a:off x="0" y="0"/>
            <a:ext cx="9601200" cy="12801600"/>
          </a:xfrm>
          <a:prstGeom prst="rect">
            <a:avLst/>
          </a:prstGeom>
        </p:spPr>
      </p:pic>
      <p:sp>
        <p:nvSpPr>
          <p:cNvPr id="3" name="Slide Number Placeholder 2">
            <a:extLst>
              <a:ext uri="{FF2B5EF4-FFF2-40B4-BE49-F238E27FC236}">
                <a16:creationId xmlns:a16="http://schemas.microsoft.com/office/drawing/2014/main" id="{26BAB24E-7A5C-EAB6-56C7-AE04A97BF95A}"/>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21</a:t>
            </a:fld>
            <a:endParaRPr lang="en-AE" sz="3200" dirty="0">
              <a:latin typeface="Centaur" panose="02030504050205020304" pitchFamily="18" charset="0"/>
            </a:endParaRPr>
          </a:p>
        </p:txBody>
      </p:sp>
    </p:spTree>
    <p:extLst>
      <p:ext uri="{BB962C8B-B14F-4D97-AF65-F5344CB8AC3E}">
        <p14:creationId xmlns:p14="http://schemas.microsoft.com/office/powerpoint/2010/main" val="797645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E670-1D06-98B7-A1D9-8B002424465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12DC4618-DBAA-B3EA-7556-36A6318040D3}"/>
              </a:ext>
            </a:extLst>
          </p:cNvPr>
          <p:cNvSpPr txBox="1"/>
          <p:nvPr/>
        </p:nvSpPr>
        <p:spPr>
          <a:xfrm>
            <a:off x="436415" y="1815232"/>
            <a:ext cx="8728363" cy="10433625"/>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is designed around a simple principle: the frame must flex where movement is useful and remain firm where force must be carried.</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Its arms and accordion flexures provide controlled compliance. As the wheels meet the pipe, the flexures can deflect while helping maintain contact and grip. The side springs support that response across the frame. These elements are shaped to bend in intended regions rather than allowing the whole chassis to twist unpredictably.</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centre plate and motor mounts form the structural backbone. Openings remove material where it is not needed, while the arms, braces and mounts preserve paths for forces to travel through the frame. The motor holders keep the motors aligned and accessible, so they can be installed and secured without making the surrounding structure unnecessarily closed.</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Each feature has a task: flexures provide movement, wheels provide contact, mounts hold the drive system, and the centre plate joins the assembly. Their dimensions are interdependent. Changing a material, wheel spacing or spring geometry changes how the whole mechanism responds.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Project Grace is therefore neither entirely rigid nor freely flexible. It is a structure tuned to yield without surrendering its hold: enough movement to adapt to the pipe, enough strength to keep climbing.</a:t>
            </a:r>
          </a:p>
        </p:txBody>
      </p:sp>
      <p:sp>
        <p:nvSpPr>
          <p:cNvPr id="3" name="Slide Number Placeholder 2">
            <a:extLst>
              <a:ext uri="{FF2B5EF4-FFF2-40B4-BE49-F238E27FC236}">
                <a16:creationId xmlns:a16="http://schemas.microsoft.com/office/drawing/2014/main" id="{3E5A41F1-08AD-19AA-04DA-868B24BCADB4}"/>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22</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524E8BED-A3DB-0A77-F64E-92C23503F07C}"/>
              </a:ext>
            </a:extLst>
          </p:cNvPr>
          <p:cNvSpPr txBox="1"/>
          <p:nvPr/>
        </p:nvSpPr>
        <p:spPr>
          <a:xfrm>
            <a:off x="436416" y="491793"/>
            <a:ext cx="8728362"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A Frame Built to Yield</a:t>
            </a:r>
          </a:p>
          <a:p>
            <a:pPr marL="0" marR="0" indent="0" algn="ctr">
              <a:buNone/>
            </a:pPr>
            <a:r>
              <a:rPr lang="en-GB" sz="4000" b="1" i="1" dirty="0">
                <a:solidFill>
                  <a:srgbClr val="370000"/>
                </a:solidFill>
                <a:effectLst/>
                <a:latin typeface="Felix Titling" panose="04060505060202020A04" pitchFamily="82" charset="0"/>
              </a:rPr>
              <a:t>and Hold</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2034526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EFEFD"/>
        </a:solidFill>
        <a:effectLst/>
      </p:bgPr>
    </p:bg>
    <p:spTree>
      <p:nvGrpSpPr>
        <p:cNvPr id="1" name="">
          <a:extLst>
            <a:ext uri="{FF2B5EF4-FFF2-40B4-BE49-F238E27FC236}">
              <a16:creationId xmlns:a16="http://schemas.microsoft.com/office/drawing/2014/main" id="{489BD2D6-2FDF-1588-02F0-1B8A33879E4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C4DFC0-9DA8-931C-59B8-1DB3A184C238}"/>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23</a:t>
            </a:fld>
            <a:endParaRPr lang="en-AE" sz="3200" dirty="0">
              <a:latin typeface="Centaur" panose="02030504050205020304" pitchFamily="18" charset="0"/>
            </a:endParaRPr>
          </a:p>
        </p:txBody>
      </p:sp>
      <p:pic>
        <p:nvPicPr>
          <p:cNvPr id="5" name="Picture 4">
            <a:extLst>
              <a:ext uri="{FF2B5EF4-FFF2-40B4-BE49-F238E27FC236}">
                <a16:creationId xmlns:a16="http://schemas.microsoft.com/office/drawing/2014/main" id="{DF1AF12E-5BC0-F526-20B6-C41FF7EA210E}"/>
              </a:ext>
            </a:extLst>
          </p:cNvPr>
          <p:cNvPicPr>
            <a:picLocks noChangeAspect="1"/>
          </p:cNvPicPr>
          <p:nvPr/>
        </p:nvPicPr>
        <p:blipFill>
          <a:blip r:embed="rId2">
            <a:duotone>
              <a:schemeClr val="accent2">
                <a:shade val="45000"/>
                <a:satMod val="135000"/>
              </a:schemeClr>
              <a:prstClr val="white"/>
            </a:duotone>
          </a:blip>
          <a:stretch>
            <a:fillRect/>
          </a:stretch>
        </p:blipFill>
        <p:spPr>
          <a:xfrm>
            <a:off x="924789" y="223518"/>
            <a:ext cx="7751618" cy="11781269"/>
          </a:xfrm>
          <a:prstGeom prst="rect">
            <a:avLst/>
          </a:prstGeom>
        </p:spPr>
      </p:pic>
    </p:spTree>
    <p:extLst>
      <p:ext uri="{BB962C8B-B14F-4D97-AF65-F5344CB8AC3E}">
        <p14:creationId xmlns:p14="http://schemas.microsoft.com/office/powerpoint/2010/main" val="3827314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D8BA0-4EC4-4510-5977-F7DC14BF89E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FF600BBE-8A3A-62A6-0D36-92F07F51A18B}"/>
              </a:ext>
            </a:extLst>
          </p:cNvPr>
          <p:cNvSpPr txBox="1"/>
          <p:nvPr/>
        </p:nvSpPr>
        <p:spPr>
          <a:xfrm>
            <a:off x="628647" y="2291983"/>
            <a:ext cx="8343900" cy="8217634"/>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The Project Grace wheel is designed to do more than turn. It must carry the motor’s force into the pipe while keeping its tyres seated and its shape light enough to respond to the frame.</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Its twin tire seats use outer lands and retaining ledges to help resist the tyres walking off under load. The narrowed waist between them provides clearance around the pipe, while keeping both running surfaces joined as one wheel.</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split-spoke pattern removes material between the hub and rim but leaves a continuous outer ring to support the tire seats. The spokes branch outward to connect that ring back to the central hub. This balances open space with a defined structural path for torque.</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At the centre, the D-shaped bore transfers rotation from the motor shaft. The one-sided boss provides an adjustable stand-off, positioning the wheel away from the frame without changing the tire profile.</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Every feature serves contact, retention or alignment. The wheel is shaped to hold its place, transmit force and keep rolling.</a:t>
            </a:r>
          </a:p>
        </p:txBody>
      </p:sp>
      <p:sp>
        <p:nvSpPr>
          <p:cNvPr id="3" name="Slide Number Placeholder 2">
            <a:extLst>
              <a:ext uri="{FF2B5EF4-FFF2-40B4-BE49-F238E27FC236}">
                <a16:creationId xmlns:a16="http://schemas.microsoft.com/office/drawing/2014/main" id="{99FC280A-1FA3-BE93-150F-54F170903744}"/>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24</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F0DD035A-8BD4-0D6A-11DC-289BE2913567}"/>
              </a:ext>
            </a:extLst>
          </p:cNvPr>
          <p:cNvSpPr txBox="1"/>
          <p:nvPr/>
        </p:nvSpPr>
        <p:spPr>
          <a:xfrm>
            <a:off x="436416" y="491793"/>
            <a:ext cx="8728362"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The Wheel: Grip, Guidance, Balance</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1305198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EFEFD"/>
        </a:solidFill>
        <a:effectLst/>
      </p:bgPr>
    </p:bg>
    <p:spTree>
      <p:nvGrpSpPr>
        <p:cNvPr id="1" name="">
          <a:extLst>
            <a:ext uri="{FF2B5EF4-FFF2-40B4-BE49-F238E27FC236}">
              <a16:creationId xmlns:a16="http://schemas.microsoft.com/office/drawing/2014/main" id="{4D9322D8-2C7D-60CE-2472-8F4E71EACE6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3BF2879-7A83-700B-6895-C6F2933A436A}"/>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25</a:t>
            </a:fld>
            <a:endParaRPr lang="en-AE" sz="3200" dirty="0">
              <a:latin typeface="Centaur" panose="02030504050205020304" pitchFamily="18" charset="0"/>
            </a:endParaRPr>
          </a:p>
        </p:txBody>
      </p:sp>
      <p:pic>
        <p:nvPicPr>
          <p:cNvPr id="5" name="Picture 4">
            <a:extLst>
              <a:ext uri="{FF2B5EF4-FFF2-40B4-BE49-F238E27FC236}">
                <a16:creationId xmlns:a16="http://schemas.microsoft.com/office/drawing/2014/main" id="{885C8798-44CD-A391-3114-41B7A13D0522}"/>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p:blipFill>
        <p:spPr>
          <a:xfrm>
            <a:off x="1" y="1028700"/>
            <a:ext cx="9601200" cy="10134097"/>
          </a:xfrm>
          <a:prstGeom prst="rect">
            <a:avLst/>
          </a:prstGeom>
        </p:spPr>
      </p:pic>
    </p:spTree>
    <p:extLst>
      <p:ext uri="{BB962C8B-B14F-4D97-AF65-F5344CB8AC3E}">
        <p14:creationId xmlns:p14="http://schemas.microsoft.com/office/powerpoint/2010/main" val="3119647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FE723-D294-7775-D6D0-F2F3E6E88728}"/>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5D3FB50-A0C5-F6B2-EB8F-B50476A629F5}"/>
              </a:ext>
            </a:extLst>
          </p:cNvPr>
          <p:cNvSpPr txBox="1"/>
          <p:nvPr/>
        </p:nvSpPr>
        <p:spPr>
          <a:xfrm>
            <a:off x="628647" y="2291983"/>
            <a:ext cx="8343900" cy="8586966"/>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reuses the rubber tyres supplied with the N20 motor wheels and mounts them on a custom-printed wheel body. This combines the tyres’ existing tread and grip with a wheel shaped to fit the robot’s layout.</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custom wheel has two tire seats, each 6.5 mm wide. Outer lands support the tyres, while raised ledges help keep them aligned under load. A narrower waist separates the seats and clears the pipe. The D-shaped centre bore transfers motor torque into the printed wheel.</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printed body adapts the motor shaft to the paired-tyre arrangement; the rubber remains the part that contacts the pipe. During assembly, check that each tyre is fully seated and that the two running surfaces remain aligned. After testing, inspect for tyre movement or rubbing against the frame. The printed ledges help locate the tyres, but their retention and grip should be verified on the actual parts.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wheel has to be printed with a gyroid infill pattern at a percentage of 70%, otherwise the D-bore will get easily rounded off. The wheel needs to be bonded to the motor shaft with super </a:t>
            </a:r>
            <a:r>
              <a:rPr lang="en-GB" sz="2400">
                <a:solidFill>
                  <a:srgbClr val="370000"/>
                </a:solidFill>
                <a:latin typeface="Calisto MT" panose="02040603050505030304" pitchFamily="18" charset="0"/>
              </a:rPr>
              <a:t>glue gel.</a:t>
            </a:r>
            <a:endParaRPr lang="en-GB" sz="2400" dirty="0">
              <a:solidFill>
                <a:srgbClr val="370000"/>
              </a:solidFill>
              <a:latin typeface="Calisto MT" panose="02040603050505030304" pitchFamily="18" charset="0"/>
            </a:endParaRPr>
          </a:p>
        </p:txBody>
      </p:sp>
      <p:sp>
        <p:nvSpPr>
          <p:cNvPr id="3" name="Slide Number Placeholder 2">
            <a:extLst>
              <a:ext uri="{FF2B5EF4-FFF2-40B4-BE49-F238E27FC236}">
                <a16:creationId xmlns:a16="http://schemas.microsoft.com/office/drawing/2014/main" id="{CC610C73-6B47-801B-5807-645DE6731C1D}"/>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26</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F0D53B96-D8B4-0582-2CC8-82A692E99D8A}"/>
              </a:ext>
            </a:extLst>
          </p:cNvPr>
          <p:cNvSpPr txBox="1"/>
          <p:nvPr/>
        </p:nvSpPr>
        <p:spPr>
          <a:xfrm>
            <a:off x="436416" y="491793"/>
            <a:ext cx="8728362"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N20 Tyres on the Custom Wheel</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33450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77C774-38C7-C0A6-86D1-F9060506564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EE2D5E-6A2E-A34C-A65B-ABBDD0DBEA00}"/>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27</a:t>
            </a:fld>
            <a:endParaRPr lang="en-AE" sz="3200" dirty="0">
              <a:latin typeface="Centaur" panose="02030504050205020304" pitchFamily="18" charset="0"/>
            </a:endParaRPr>
          </a:p>
        </p:txBody>
      </p:sp>
      <p:pic>
        <p:nvPicPr>
          <p:cNvPr id="4" name="Picture 3">
            <a:extLst>
              <a:ext uri="{FF2B5EF4-FFF2-40B4-BE49-F238E27FC236}">
                <a16:creationId xmlns:a16="http://schemas.microsoft.com/office/drawing/2014/main" id="{DD82003C-C9BD-A184-1F59-6F2F58F993B8}"/>
              </a:ext>
            </a:extLst>
          </p:cNvPr>
          <p:cNvPicPr>
            <a:picLocks noChangeAspect="1"/>
          </p:cNvPicPr>
          <p:nvPr/>
        </p:nvPicPr>
        <p:blipFill>
          <a:blip r:embed="rId2"/>
          <a:stretch>
            <a:fillRect/>
          </a:stretch>
        </p:blipFill>
        <p:spPr>
          <a:xfrm>
            <a:off x="116756" y="3374570"/>
            <a:ext cx="9367687" cy="6892195"/>
          </a:xfrm>
          <a:prstGeom prst="rect">
            <a:avLst/>
          </a:prstGeom>
        </p:spPr>
      </p:pic>
    </p:spTree>
    <p:extLst>
      <p:ext uri="{BB962C8B-B14F-4D97-AF65-F5344CB8AC3E}">
        <p14:creationId xmlns:p14="http://schemas.microsoft.com/office/powerpoint/2010/main" val="1619643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4D1A2-22EB-A9EF-3B40-696D9BD50DD2}"/>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314D5B68-86CD-1007-B2F7-46BAA3A928D5}"/>
              </a:ext>
            </a:extLst>
          </p:cNvPr>
          <p:cNvSpPr txBox="1"/>
          <p:nvPr/>
        </p:nvSpPr>
        <p:spPr>
          <a:xfrm>
            <a:off x="628647" y="2062528"/>
            <a:ext cx="8343900" cy="9694962"/>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The bond between the printed wheel and rubber tyre transfers motor torque to the pipe. As the wheel turns, this joint experiences repeated shear; climbing, impacts and tyre deformation can also create local peeling forces. A weak or brittle bond may let the tyre creep around the wheel or separate under cycling.</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Project Grace uses </a:t>
            </a:r>
            <a:r>
              <a:rPr lang="en-GB" sz="2400" dirty="0" err="1">
                <a:solidFill>
                  <a:srgbClr val="370000"/>
                </a:solidFill>
                <a:latin typeface="Calisto MT" panose="02040603050505030304" pitchFamily="18" charset="0"/>
              </a:rPr>
              <a:t>Pattex</a:t>
            </a:r>
            <a:r>
              <a:rPr lang="en-GB" sz="2400" dirty="0">
                <a:solidFill>
                  <a:srgbClr val="370000"/>
                </a:solidFill>
                <a:latin typeface="Calisto MT" panose="02040603050505030304" pitchFamily="18" charset="0"/>
              </a:rPr>
              <a:t> Super Glue Power Gel Control, selected for its stated compatibility with rubber and flexible materials. Its gel consistency helps control application and can accommodate small surface irregularities better than a thin, runny adhesive. The adhesive must still be applied to clean, dry surfaces and allowed to cure fully according to the manufacturer’s instructions.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Cheaper adhesives may have inconsistent bonding, poor rubber compatibility or insufficient toughness. If the bond fractures or </a:t>
            </a:r>
            <a:r>
              <a:rPr lang="en-GB" sz="2400" dirty="0" err="1">
                <a:solidFill>
                  <a:srgbClr val="370000"/>
                </a:solidFill>
                <a:latin typeface="Calisto MT" panose="02040603050505030304" pitchFamily="18" charset="0"/>
              </a:rPr>
              <a:t>debonds</a:t>
            </a:r>
            <a:r>
              <a:rPr lang="en-GB" sz="2400" dirty="0">
                <a:solidFill>
                  <a:srgbClr val="370000"/>
                </a:solidFill>
                <a:latin typeface="Calisto MT" panose="02040603050505030304" pitchFamily="18" charset="0"/>
              </a:rPr>
              <a:t>, the tyre can slip even while the motor and printed wheel remain intact. That is a shear failure: the driving load exceeds the strength of the adhesive joint.</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Use a consistent bond line, avoid contaminating the surfaces, and test the assembled wheel under load before climbing. A quality adhesive improves reliability, but only a physical test can confirm the bond for the actual tyre, print and loading conditions.</a:t>
            </a:r>
          </a:p>
        </p:txBody>
      </p:sp>
      <p:sp>
        <p:nvSpPr>
          <p:cNvPr id="3" name="Slide Number Placeholder 2">
            <a:extLst>
              <a:ext uri="{FF2B5EF4-FFF2-40B4-BE49-F238E27FC236}">
                <a16:creationId xmlns:a16="http://schemas.microsoft.com/office/drawing/2014/main" id="{44DD9508-9E39-A33E-24C5-6CFD31E64217}"/>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28</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B80EC524-CCBE-9135-D0A7-BD87AC9BFA11}"/>
              </a:ext>
            </a:extLst>
          </p:cNvPr>
          <p:cNvSpPr txBox="1"/>
          <p:nvPr/>
        </p:nvSpPr>
        <p:spPr>
          <a:xfrm>
            <a:off x="436416" y="491793"/>
            <a:ext cx="8728362"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The Bond Between Wheel and Tyre</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2442580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5A8F52-3494-2B36-708C-B63CE1DE114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0BABCF-B7D8-7172-7BF0-6A3815254ACB}"/>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29</a:t>
            </a:fld>
            <a:endParaRPr lang="en-AE" sz="3200" dirty="0">
              <a:latin typeface="Centaur" panose="02030504050205020304" pitchFamily="18" charset="0"/>
            </a:endParaRPr>
          </a:p>
        </p:txBody>
      </p:sp>
      <p:pic>
        <p:nvPicPr>
          <p:cNvPr id="4" name="Picture 3">
            <a:extLst>
              <a:ext uri="{FF2B5EF4-FFF2-40B4-BE49-F238E27FC236}">
                <a16:creationId xmlns:a16="http://schemas.microsoft.com/office/drawing/2014/main" id="{027FAC1A-AB6F-459A-DB24-1EF0513D28A3}"/>
              </a:ext>
            </a:extLst>
          </p:cNvPr>
          <p:cNvPicPr>
            <a:picLocks noChangeAspect="1"/>
          </p:cNvPicPr>
          <p:nvPr/>
        </p:nvPicPr>
        <p:blipFill>
          <a:blip r:embed="rId2"/>
          <a:stretch>
            <a:fillRect/>
          </a:stretch>
        </p:blipFill>
        <p:spPr>
          <a:xfrm>
            <a:off x="437406" y="1597904"/>
            <a:ext cx="8726387" cy="9605791"/>
          </a:xfrm>
          <a:prstGeom prst="rect">
            <a:avLst/>
          </a:prstGeom>
        </p:spPr>
      </p:pic>
    </p:spTree>
    <p:extLst>
      <p:ext uri="{BB962C8B-B14F-4D97-AF65-F5344CB8AC3E}">
        <p14:creationId xmlns:p14="http://schemas.microsoft.com/office/powerpoint/2010/main" val="3140299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51608-357A-F3CF-7297-285DA1F4681F}"/>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35F8CF3B-7898-8837-4485-D0BC8E9AD566}"/>
              </a:ext>
            </a:extLst>
          </p:cNvPr>
          <p:cNvSpPr txBox="1"/>
          <p:nvPr/>
        </p:nvSpPr>
        <p:spPr>
          <a:xfrm>
            <a:off x="628647" y="2291983"/>
            <a:ext cx="8343900" cy="6740307"/>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The chain hook turns the servo’s rotation into a small, deliberate reach. Its arm carries the hook 20 mm from the servo axis, while the curved tip guides the chain toward an open 6 mm mouth. The rounded profile helps capture the chain without making the end a closed loop.</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Force travels from the hook, along the 5 mm-wide arm, into the servo horn and spline. The hub provides the mounting interface; the centre screw secures it to the servo. This makes spline fit and alignment essential: a loose hub can slip, while a poor fit can bind or damage the servo.</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arm balances reach against leverage. Greater reach gives the hook more access, but also increases the moment carried by the arm and servo. The part should therefore be tested with the actual chain and servo, starting with low loads. Print a short spline-fit sample first, then inspect the arm and hook after repeated operation.</a:t>
            </a:r>
          </a:p>
        </p:txBody>
      </p:sp>
      <p:sp>
        <p:nvSpPr>
          <p:cNvPr id="3" name="Slide Number Placeholder 2">
            <a:extLst>
              <a:ext uri="{FF2B5EF4-FFF2-40B4-BE49-F238E27FC236}">
                <a16:creationId xmlns:a16="http://schemas.microsoft.com/office/drawing/2014/main" id="{B6A51FF0-8303-8BDC-AAD9-441FEB32F80D}"/>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30</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716BDA7E-9C7A-0640-FA07-4B43C89F9D14}"/>
              </a:ext>
            </a:extLst>
          </p:cNvPr>
          <p:cNvSpPr txBox="1"/>
          <p:nvPr/>
        </p:nvSpPr>
        <p:spPr>
          <a:xfrm>
            <a:off x="436416" y="491793"/>
            <a:ext cx="8728362"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The Chain Hook: Reach with Restraint</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347112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EFEFD"/>
        </a:solidFill>
        <a:effectLst/>
      </p:bgPr>
    </p:bg>
    <p:spTree>
      <p:nvGrpSpPr>
        <p:cNvPr id="1" name="">
          <a:extLst>
            <a:ext uri="{FF2B5EF4-FFF2-40B4-BE49-F238E27FC236}">
              <a16:creationId xmlns:a16="http://schemas.microsoft.com/office/drawing/2014/main" id="{10C39260-1A88-2C60-2217-26C82E68B31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295284-C5BA-A519-0027-C10969ED7F16}"/>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31</a:t>
            </a:fld>
            <a:endParaRPr lang="en-AE" sz="3200" dirty="0">
              <a:latin typeface="Centaur" panose="02030504050205020304" pitchFamily="18" charset="0"/>
            </a:endParaRPr>
          </a:p>
        </p:txBody>
      </p:sp>
      <p:pic>
        <p:nvPicPr>
          <p:cNvPr id="5" name="Picture 4">
            <a:extLst>
              <a:ext uri="{FF2B5EF4-FFF2-40B4-BE49-F238E27FC236}">
                <a16:creationId xmlns:a16="http://schemas.microsoft.com/office/drawing/2014/main" id="{45A1E8D0-6C5C-1967-8DD0-279F887B2747}"/>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p:blipFill>
        <p:spPr>
          <a:xfrm>
            <a:off x="1" y="1633415"/>
            <a:ext cx="9601200" cy="8924666"/>
          </a:xfrm>
          <a:prstGeom prst="rect">
            <a:avLst/>
          </a:prstGeom>
        </p:spPr>
      </p:pic>
    </p:spTree>
    <p:extLst>
      <p:ext uri="{BB962C8B-B14F-4D97-AF65-F5344CB8AC3E}">
        <p14:creationId xmlns:p14="http://schemas.microsoft.com/office/powerpoint/2010/main" val="35490537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B7260-632C-B545-E5C1-4554ACBB41E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CC507471-87AA-E777-464E-B4290E1C783F}"/>
              </a:ext>
            </a:extLst>
          </p:cNvPr>
          <p:cNvSpPr txBox="1"/>
          <p:nvPr/>
        </p:nvSpPr>
        <p:spPr>
          <a:xfrm>
            <a:off x="628647" y="2291983"/>
            <a:ext cx="8343900" cy="7848302"/>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uses two identical 2S, 450 </a:t>
            </a:r>
            <a:r>
              <a:rPr lang="en-GB" sz="2400" dirty="0" err="1">
                <a:solidFill>
                  <a:srgbClr val="370000"/>
                </a:solidFill>
                <a:latin typeface="Calisto MT" panose="02040603050505030304" pitchFamily="18" charset="0"/>
              </a:rPr>
              <a:t>mAh</a:t>
            </a:r>
            <a:r>
              <a:rPr lang="en-GB" sz="2400" dirty="0">
                <a:solidFill>
                  <a:srgbClr val="370000"/>
                </a:solidFill>
                <a:latin typeface="Calisto MT" panose="02040603050505030304" pitchFamily="18" charset="0"/>
              </a:rPr>
              <a:t> LiPo packs in series to form a 4S supply. The combined pack is 14.8 V nominal and 16.8 V fully charged. Series connection doubles the voltage, not the capacity: capacity remains 450 </a:t>
            </a:r>
            <a:r>
              <a:rPr lang="en-GB" sz="2400" dirty="0" err="1">
                <a:solidFill>
                  <a:srgbClr val="370000"/>
                </a:solidFill>
                <a:latin typeface="Calisto MT" panose="02040603050505030304" pitchFamily="18" charset="0"/>
              </a:rPr>
              <a:t>mAh</a:t>
            </a:r>
            <a:r>
              <a:rPr lang="en-GB" sz="2400" dirty="0">
                <a:solidFill>
                  <a:srgbClr val="370000"/>
                </a:solidFill>
                <a:latin typeface="Calisto MT" panose="02040603050505030304" pitchFamily="18" charset="0"/>
              </a:rPr>
              <a:t>. At nominal voltage, the pack stores about 6.7 </a:t>
            </a:r>
            <a:r>
              <a:rPr lang="en-GB" sz="2400" dirty="0" err="1">
                <a:solidFill>
                  <a:srgbClr val="370000"/>
                </a:solidFill>
                <a:latin typeface="Calisto MT" panose="02040603050505030304" pitchFamily="18" charset="0"/>
              </a:rPr>
              <a:t>Wh</a:t>
            </a:r>
            <a:r>
              <a:rPr lang="en-GB" sz="2400" dirty="0">
                <a:solidFill>
                  <a:srgbClr val="370000"/>
                </a:solidFill>
                <a:latin typeface="Calisto MT" panose="02040603050505030304" pitchFamily="18" charset="0"/>
              </a:rPr>
              <a:t> of energy. At approximately 22 g per battery, the pair weighs about 44 g, before wiring and connectors.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system draws roughly 25 W during steady movement and up to 45 W while climbing. At 14.8 V, that corresponds to about 1.7–3.0 A. The theoretical runtime is around 16 minutes at 25 W or 9 minutes at 45 W; real runtime will be shorter due to voltage sag, motor peaks and the capacity reserve needed to protect the LiPo cells.</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Use matched packs of the same type, capacity, age and charge state. Confirm that the controller supports a 4S pack’s 16.8 V maximum, and use a suitable 4S balance-charging method. The advertised discharge rating alone does not guarantee real-world performance: verify the pack, wiring and connector under climbing loads.</a:t>
            </a:r>
          </a:p>
        </p:txBody>
      </p:sp>
      <p:sp>
        <p:nvSpPr>
          <p:cNvPr id="3" name="Slide Number Placeholder 2">
            <a:extLst>
              <a:ext uri="{FF2B5EF4-FFF2-40B4-BE49-F238E27FC236}">
                <a16:creationId xmlns:a16="http://schemas.microsoft.com/office/drawing/2014/main" id="{A07868A4-CF8E-A2DD-A8F2-EBAECE1F19C2}"/>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32</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8626EE53-8C66-2D67-7342-C99DE71912EA}"/>
              </a:ext>
            </a:extLst>
          </p:cNvPr>
          <p:cNvSpPr txBox="1"/>
          <p:nvPr/>
        </p:nvSpPr>
        <p:spPr>
          <a:xfrm>
            <a:off x="436416" y="491793"/>
            <a:ext cx="8728362" cy="1323439"/>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The Battery: Lightness with Reserve</a:t>
            </a:r>
            <a:endParaRPr lang="en-AE" sz="1600" b="1" i="0" dirty="0">
              <a:solidFill>
                <a:srgbClr val="370000"/>
              </a:solidFill>
              <a:effectLst/>
              <a:latin typeface="Felix Titling" panose="04060505060202020A04" pitchFamily="82" charset="0"/>
            </a:endParaRPr>
          </a:p>
        </p:txBody>
      </p:sp>
    </p:spTree>
    <p:extLst>
      <p:ext uri="{BB962C8B-B14F-4D97-AF65-F5344CB8AC3E}">
        <p14:creationId xmlns:p14="http://schemas.microsoft.com/office/powerpoint/2010/main" val="1037440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E59D57-6E91-E6A1-1C08-D6AA44BB0AB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693578-C9B3-35F5-E7F6-1C5831E07118}"/>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33</a:t>
            </a:fld>
            <a:endParaRPr lang="en-AE" sz="3200" dirty="0">
              <a:latin typeface="Centaur" panose="02030504050205020304" pitchFamily="18" charset="0"/>
            </a:endParaRPr>
          </a:p>
        </p:txBody>
      </p:sp>
      <p:pic>
        <p:nvPicPr>
          <p:cNvPr id="4" name="Picture 3">
            <a:extLst>
              <a:ext uri="{FF2B5EF4-FFF2-40B4-BE49-F238E27FC236}">
                <a16:creationId xmlns:a16="http://schemas.microsoft.com/office/drawing/2014/main" id="{AEAAFF9F-CAC0-F585-C544-A4B6CEE7452F}"/>
              </a:ext>
            </a:extLst>
          </p:cNvPr>
          <p:cNvPicPr>
            <a:picLocks noChangeAspect="1"/>
          </p:cNvPicPr>
          <p:nvPr/>
        </p:nvPicPr>
        <p:blipFill>
          <a:blip r:embed="rId2"/>
          <a:stretch>
            <a:fillRect/>
          </a:stretch>
        </p:blipFill>
        <p:spPr>
          <a:xfrm rot="5400000">
            <a:off x="-925563" y="1725730"/>
            <a:ext cx="11651496" cy="8906618"/>
          </a:xfrm>
          <a:prstGeom prst="rect">
            <a:avLst/>
          </a:prstGeom>
        </p:spPr>
      </p:pic>
    </p:spTree>
    <p:extLst>
      <p:ext uri="{BB962C8B-B14F-4D97-AF65-F5344CB8AC3E}">
        <p14:creationId xmlns:p14="http://schemas.microsoft.com/office/powerpoint/2010/main" val="3518042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B131-31D9-2622-B70B-27D65BE8FD5D}"/>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555B0115-D474-55F7-F7B9-594B82921493}"/>
              </a:ext>
            </a:extLst>
          </p:cNvPr>
          <p:cNvSpPr txBox="1"/>
          <p:nvPr/>
        </p:nvSpPr>
        <p:spPr>
          <a:xfrm>
            <a:off x="628647" y="1199679"/>
            <a:ext cx="8343900" cy="6740307"/>
          </a:xfrm>
          <a:prstGeom prst="rect">
            <a:avLst/>
          </a:prstGeom>
          <a:noFill/>
        </p:spPr>
        <p:txBody>
          <a:bodyPr wrap="square" rtlCol="0">
            <a:spAutoFit/>
          </a:bodyPr>
          <a:lstStyle/>
          <a:p>
            <a:pPr algn="just"/>
            <a:r>
              <a:rPr lang="en-GB" sz="2400" dirty="0">
                <a:solidFill>
                  <a:srgbClr val="370000"/>
                </a:solidFill>
                <a:latin typeface="Calisto MT" panose="02040603050505030304" pitchFamily="18" charset="0"/>
              </a:rPr>
              <a:t>Project Grace uses high-performance VHB double-sided tape to secure the battery packs and adhesive to retain selected components. Bonding parts directly to the frame avoids bulky cradles and brackets, reducing printed material, overall mass and print time while keeping the layout compact.</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VHB tape’s viscoelastic layer spreads load across a broad contact area and helps absorb vibration. This is useful for battery packs, which should stay positioned as the frame flexes and climbs. Adhesive is also efficient for lighter components that do not need a custom printed enclosure.</a:t>
            </a:r>
          </a:p>
          <a:p>
            <a:pPr algn="just"/>
            <a:endParaRPr lang="en-GB" sz="2400" dirty="0">
              <a:solidFill>
                <a:srgbClr val="370000"/>
              </a:solidFill>
              <a:latin typeface="Calisto MT" panose="02040603050505030304" pitchFamily="18" charset="0"/>
            </a:endParaRPr>
          </a:p>
          <a:p>
            <a:pPr algn="just"/>
            <a:r>
              <a:rPr lang="en-GB" sz="2400" dirty="0">
                <a:solidFill>
                  <a:srgbClr val="370000"/>
                </a:solidFill>
                <a:latin typeface="Calisto MT" panose="02040603050505030304" pitchFamily="18" charset="0"/>
              </a:rPr>
              <a:t>The bond depends on preparation: surfaces must be clean, dry and compatible with the chosen tape or glue, with enough contact area and time to cure. Adhesive should not be treated as an unlimited-strength fastener. Check battery retention under vibration and expected loads and remove a taped pack carefully so its protective wrapping is not damaged.</a:t>
            </a:r>
          </a:p>
        </p:txBody>
      </p:sp>
      <p:sp>
        <p:nvSpPr>
          <p:cNvPr id="3" name="Slide Number Placeholder 2">
            <a:extLst>
              <a:ext uri="{FF2B5EF4-FFF2-40B4-BE49-F238E27FC236}">
                <a16:creationId xmlns:a16="http://schemas.microsoft.com/office/drawing/2014/main" id="{142D7B33-E241-54AC-AB07-D48836EDF389}"/>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34</a:t>
            </a:fld>
            <a:endParaRPr lang="en-AE" sz="3200" dirty="0">
              <a:latin typeface="Centaur" panose="02030504050205020304" pitchFamily="18" charset="0"/>
            </a:endParaRPr>
          </a:p>
        </p:txBody>
      </p:sp>
      <p:sp>
        <p:nvSpPr>
          <p:cNvPr id="4" name="TextBox 3">
            <a:extLst>
              <a:ext uri="{FF2B5EF4-FFF2-40B4-BE49-F238E27FC236}">
                <a16:creationId xmlns:a16="http://schemas.microsoft.com/office/drawing/2014/main" id="{27541E3E-453B-2EC6-27F0-2181B11BF077}"/>
              </a:ext>
            </a:extLst>
          </p:cNvPr>
          <p:cNvSpPr txBox="1"/>
          <p:nvPr/>
        </p:nvSpPr>
        <p:spPr>
          <a:xfrm>
            <a:off x="436416" y="491793"/>
            <a:ext cx="8728362" cy="707886"/>
          </a:xfrm>
          <a:prstGeom prst="rect">
            <a:avLst/>
          </a:prstGeom>
          <a:noFill/>
        </p:spPr>
        <p:txBody>
          <a:bodyPr wrap="square">
            <a:spAutoFit/>
          </a:bodyPr>
          <a:lstStyle/>
          <a:p>
            <a:pPr marL="0" marR="0" indent="0" algn="ctr">
              <a:buNone/>
            </a:pPr>
            <a:r>
              <a:rPr lang="en-GB" sz="4000" b="1" i="1" dirty="0">
                <a:solidFill>
                  <a:srgbClr val="370000"/>
                </a:solidFill>
                <a:effectLst/>
                <a:latin typeface="Felix Titling" panose="04060505060202020A04" pitchFamily="82" charset="0"/>
              </a:rPr>
              <a:t>Bonded by Design</a:t>
            </a:r>
            <a:endParaRPr lang="en-AE" sz="1600" b="1" i="0" dirty="0">
              <a:solidFill>
                <a:srgbClr val="370000"/>
              </a:solidFill>
              <a:effectLst/>
              <a:latin typeface="Felix Titling" panose="04060505060202020A04" pitchFamily="82" charset="0"/>
            </a:endParaRPr>
          </a:p>
        </p:txBody>
      </p:sp>
      <p:pic>
        <p:nvPicPr>
          <p:cNvPr id="2" name="Picture 1" descr="Types Of Adhesive Glue at Tasha Hyman blog">
            <a:extLst>
              <a:ext uri="{FF2B5EF4-FFF2-40B4-BE49-F238E27FC236}">
                <a16:creationId xmlns:a16="http://schemas.microsoft.com/office/drawing/2014/main" id="{5516D4ED-99B4-0618-170F-B293DF927A88}"/>
              </a:ext>
            </a:extLst>
          </p:cNvPr>
          <p:cNvPicPr>
            <a:picLocks noChangeAspect="1"/>
          </p:cNvPicPr>
          <p:nvPr/>
        </p:nvPicPr>
        <p:blipFill>
          <a:blip r:embed="rId2"/>
          <a:stretch>
            <a:fillRect/>
          </a:stretch>
        </p:blipFill>
        <p:spPr>
          <a:xfrm>
            <a:off x="2234834" y="8102217"/>
            <a:ext cx="5131525" cy="3740339"/>
          </a:xfrm>
          <a:prstGeom prst="rect">
            <a:avLst/>
          </a:prstGeom>
        </p:spPr>
      </p:pic>
    </p:spTree>
    <p:extLst>
      <p:ext uri="{BB962C8B-B14F-4D97-AF65-F5344CB8AC3E}">
        <p14:creationId xmlns:p14="http://schemas.microsoft.com/office/powerpoint/2010/main" val="822127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E9028A-6EC4-C04B-83B5-CE9D68D4C2B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D02349-06C2-10C1-F0EE-E3759EFE8EFA}"/>
              </a:ext>
            </a:extLst>
          </p:cNvPr>
          <p:cNvSpPr>
            <a:spLocks noGrp="1"/>
          </p:cNvSpPr>
          <p:nvPr>
            <p:ph type="sldNum" sz="quarter" idx="12"/>
          </p:nvPr>
        </p:nvSpPr>
        <p:spPr>
          <a:xfrm>
            <a:off x="3720463" y="12004787"/>
            <a:ext cx="2160270" cy="681567"/>
          </a:xfrm>
        </p:spPr>
        <p:txBody>
          <a:bodyPr/>
          <a:lstStyle/>
          <a:p>
            <a:pPr algn="ctr"/>
            <a:fld id="{0CE3F5CF-C427-45C0-A7B3-D0A9E1F84676}" type="slidenum">
              <a:rPr lang="en-AE" sz="3200" smtClean="0">
                <a:latin typeface="Centaur" panose="02030504050205020304" pitchFamily="18" charset="0"/>
              </a:rPr>
              <a:pPr algn="ctr"/>
              <a:t>35</a:t>
            </a:fld>
            <a:endParaRPr lang="en-AE" sz="3200" dirty="0">
              <a:latin typeface="Centaur" panose="02030504050205020304" pitchFamily="18" charset="0"/>
            </a:endParaRPr>
          </a:p>
        </p:txBody>
      </p:sp>
      <p:pic>
        <p:nvPicPr>
          <p:cNvPr id="5" name="Picture 4">
            <a:extLst>
              <a:ext uri="{FF2B5EF4-FFF2-40B4-BE49-F238E27FC236}">
                <a16:creationId xmlns:a16="http://schemas.microsoft.com/office/drawing/2014/main" id="{5A39B859-FA33-9655-BDE0-E94268AA9D7E}"/>
              </a:ext>
            </a:extLst>
          </p:cNvPr>
          <p:cNvPicPr>
            <a:picLocks noChangeAspect="1"/>
          </p:cNvPicPr>
          <p:nvPr/>
        </p:nvPicPr>
        <p:blipFill>
          <a:blip r:embed="rId2"/>
          <a:stretch>
            <a:fillRect/>
          </a:stretch>
        </p:blipFill>
        <p:spPr>
          <a:xfrm>
            <a:off x="0" y="2027938"/>
            <a:ext cx="9601200" cy="8745723"/>
          </a:xfrm>
          <a:prstGeom prst="rect">
            <a:avLst/>
          </a:prstGeom>
        </p:spPr>
      </p:pic>
    </p:spTree>
    <p:extLst>
      <p:ext uri="{BB962C8B-B14F-4D97-AF65-F5344CB8AC3E}">
        <p14:creationId xmlns:p14="http://schemas.microsoft.com/office/powerpoint/2010/main" val="20035854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62A9B1-B6C1-1B7C-1AEC-1CD89D6E0096}"/>
            </a:ext>
          </a:extLst>
        </p:cNvPr>
        <p:cNvGrpSpPr/>
        <p:nvPr/>
      </p:nvGrpSpPr>
      <p:grpSpPr>
        <a:xfrm>
          <a:off x="0" y="0"/>
          <a:ext cx="0" cy="0"/>
          <a:chOff x="0" y="0"/>
          <a:chExt cx="0" cy="0"/>
        </a:xfrm>
      </p:grpSpPr>
      <p:pic>
        <p:nvPicPr>
          <p:cNvPr id="4" name="Picture 4">
            <a:extLst>
              <a:ext uri="{FF2B5EF4-FFF2-40B4-BE49-F238E27FC236}">
                <a16:creationId xmlns:a16="http://schemas.microsoft.com/office/drawing/2014/main" id="{001AD40A-F670-F878-C34B-595D031D7EC6}"/>
              </a:ext>
            </a:extLst>
          </p:cNvPr>
          <p:cNvPicPr>
            <a:picLocks noChangeAspect="1"/>
          </p:cNvPicPr>
          <p:nvPr/>
        </p:nvPicPr>
        <p:blipFill>
          <a:blip r:embed="rId2"/>
          <a:srcRect b="11111"/>
          <a:stretch>
            <a:fillRect/>
          </a:stretch>
        </p:blipFill>
        <p:spPr>
          <a:xfrm>
            <a:off x="0" y="0"/>
            <a:ext cx="9601200" cy="12801600"/>
          </a:xfrm>
          <a:prstGeom prst="rect">
            <a:avLst/>
          </a:prstGeom>
          <a:noFill/>
          <a:ln cap="flat">
            <a:noFill/>
          </a:ln>
        </p:spPr>
      </p:pic>
      <p:sp>
        <p:nvSpPr>
          <p:cNvPr id="21" name="TextBox 20">
            <a:extLst>
              <a:ext uri="{FF2B5EF4-FFF2-40B4-BE49-F238E27FC236}">
                <a16:creationId xmlns:a16="http://schemas.microsoft.com/office/drawing/2014/main" id="{E7676466-4C06-1F14-E8B5-A5B865DD362E}"/>
              </a:ext>
            </a:extLst>
          </p:cNvPr>
          <p:cNvSpPr txBox="1"/>
          <p:nvPr/>
        </p:nvSpPr>
        <p:spPr>
          <a:xfrm>
            <a:off x="3162780" y="4620812"/>
            <a:ext cx="3275636" cy="5355312"/>
          </a:xfrm>
          <a:prstGeom prst="rect">
            <a:avLst/>
          </a:prstGeom>
          <a:gradFill>
            <a:gsLst>
              <a:gs pos="79000">
                <a:schemeClr val="tx1"/>
              </a:gs>
              <a:gs pos="100000">
                <a:srgbClr val="0F0303"/>
              </a:gs>
            </a:gsLst>
            <a:lin ang="5400000" scaled="1"/>
          </a:gradFill>
        </p:spPr>
        <p:txBody>
          <a:bodyPr wrap="square" rtlCol="0">
            <a:spAutoFit/>
          </a:bodyPr>
          <a:lstStyle/>
          <a:p>
            <a:pPr algn="ctr"/>
            <a:endParaRPr lang="en-GB" sz="3600" dirty="0">
              <a:solidFill>
                <a:srgbClr val="FEC891"/>
              </a:solidFill>
              <a:latin typeface="Edwardian Script ITC" panose="030303020407070D0804" pitchFamily="66" charset="0"/>
            </a:endParaRPr>
          </a:p>
          <a:p>
            <a:pPr algn="ctr"/>
            <a:endParaRPr lang="en-GB" sz="3600" dirty="0">
              <a:solidFill>
                <a:srgbClr val="FEC891"/>
              </a:solidFill>
              <a:latin typeface="Edwardian Script ITC" panose="030303020407070D0804" pitchFamily="66" charset="0"/>
            </a:endParaRPr>
          </a:p>
          <a:p>
            <a:pPr algn="ctr"/>
            <a:r>
              <a:rPr lang="en-GB" sz="3600" dirty="0">
                <a:solidFill>
                  <a:srgbClr val="FEC891"/>
                </a:solidFill>
                <a:latin typeface="Edwardian Script ITC" panose="030303020407070D0804" pitchFamily="66" charset="0"/>
              </a:rPr>
              <a:t>Take Hold</a:t>
            </a:r>
          </a:p>
          <a:p>
            <a:pPr algn="ctr"/>
            <a:r>
              <a:rPr lang="en-GB" sz="3600" dirty="0">
                <a:solidFill>
                  <a:srgbClr val="FEC891"/>
                </a:solidFill>
                <a:latin typeface="Edwardian Script ITC" panose="030303020407070D0804" pitchFamily="66" charset="0"/>
              </a:rPr>
              <a:t>Do Not Yield</a:t>
            </a:r>
          </a:p>
          <a:p>
            <a:pPr algn="ctr"/>
            <a:r>
              <a:rPr lang="en-GB" sz="3600" dirty="0">
                <a:solidFill>
                  <a:srgbClr val="FEC891"/>
                </a:solidFill>
                <a:latin typeface="Edwardian Script ITC" panose="030303020407070D0804" pitchFamily="66" charset="0"/>
              </a:rPr>
              <a:t>Rise</a:t>
            </a:r>
          </a:p>
          <a:p>
            <a:pPr algn="ctr"/>
            <a:endParaRPr lang="en-GB" sz="3600" dirty="0">
              <a:solidFill>
                <a:srgbClr val="FEC891"/>
              </a:solidFill>
              <a:latin typeface="Edwardian Script ITC" panose="030303020407070D0804" pitchFamily="66" charset="0"/>
            </a:endParaRPr>
          </a:p>
          <a:p>
            <a:pPr algn="ctr"/>
            <a:endParaRPr lang="en-GB" sz="3600" dirty="0">
              <a:solidFill>
                <a:srgbClr val="FEC891"/>
              </a:solidFill>
              <a:latin typeface="Edwardian Script ITC" panose="030303020407070D0804" pitchFamily="66" charset="0"/>
            </a:endParaRPr>
          </a:p>
          <a:p>
            <a:pPr algn="ctr"/>
            <a:endParaRPr lang="en-GB" sz="3600" dirty="0">
              <a:solidFill>
                <a:srgbClr val="FEC891"/>
              </a:solidFill>
              <a:latin typeface="Edwardian Script ITC" panose="030303020407070D0804" pitchFamily="66" charset="0"/>
            </a:endParaRPr>
          </a:p>
          <a:p>
            <a:pPr algn="ctr"/>
            <a:endParaRPr lang="en-GB" sz="3600" dirty="0">
              <a:solidFill>
                <a:srgbClr val="FEC891"/>
              </a:solidFill>
              <a:latin typeface="Edwardian Script ITC" panose="030303020407070D0804" pitchFamily="66" charset="0"/>
            </a:endParaRPr>
          </a:p>
          <a:p>
            <a:pPr algn="ctr"/>
            <a:endParaRPr lang="en-GB" dirty="0">
              <a:solidFill>
                <a:srgbClr val="FEC891"/>
              </a:solidFill>
              <a:latin typeface="Edwardian Script ITC" panose="030303020407070D0804" pitchFamily="66" charset="0"/>
            </a:endParaRPr>
          </a:p>
        </p:txBody>
      </p:sp>
      <p:sp>
        <p:nvSpPr>
          <p:cNvPr id="3" name="Slide Number Placeholder 2">
            <a:extLst>
              <a:ext uri="{FF2B5EF4-FFF2-40B4-BE49-F238E27FC236}">
                <a16:creationId xmlns:a16="http://schemas.microsoft.com/office/drawing/2014/main" id="{9D44DF4F-513D-FBEF-59C3-AAB536213AD8}"/>
              </a:ext>
            </a:extLst>
          </p:cNvPr>
          <p:cNvSpPr>
            <a:spLocks noGrp="1"/>
          </p:cNvSpPr>
          <p:nvPr>
            <p:ph type="sldNum" sz="quarter" idx="12"/>
          </p:nvPr>
        </p:nvSpPr>
        <p:spPr>
          <a:xfrm>
            <a:off x="3720463" y="9294557"/>
            <a:ext cx="2160270" cy="681567"/>
          </a:xfrm>
        </p:spPr>
        <p:txBody>
          <a:bodyPr/>
          <a:lstStyle/>
          <a:p>
            <a:pPr algn="ctr"/>
            <a:fld id="{0CE3F5CF-C427-45C0-A7B3-D0A9E1F84676}" type="slidenum">
              <a:rPr lang="en-AE" sz="3200" smtClean="0">
                <a:latin typeface="Centaur" panose="02030504050205020304" pitchFamily="18" charset="0"/>
              </a:rPr>
              <a:pPr algn="ctr"/>
              <a:t>36</a:t>
            </a:fld>
            <a:endParaRPr lang="en-AE" sz="3200" dirty="0">
              <a:latin typeface="Centaur" panose="02030504050205020304" pitchFamily="18" charset="0"/>
            </a:endParaRPr>
          </a:p>
        </p:txBody>
      </p:sp>
    </p:spTree>
    <p:extLst>
      <p:ext uri="{BB962C8B-B14F-4D97-AF65-F5344CB8AC3E}">
        <p14:creationId xmlns:p14="http://schemas.microsoft.com/office/powerpoint/2010/main" val="34343388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862</TotalTime>
  <Words>3511</Words>
  <Application>Microsoft Office PowerPoint</Application>
  <PresentationFormat>A3 Paper (297x420 mm)</PresentationFormat>
  <Paragraphs>197</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Aptos</vt:lpstr>
      <vt:lpstr>Aptos Display</vt:lpstr>
      <vt:lpstr>Arial</vt:lpstr>
      <vt:lpstr>Calisto MT</vt:lpstr>
      <vt:lpstr>Centaur</vt:lpstr>
      <vt:lpstr>Chamberi Super Display</vt:lpstr>
      <vt:lpstr>Edwardian Script ITC</vt:lpstr>
      <vt:lpstr>Felix Titling</vt:lpstr>
      <vt:lpstr>Kunstler Script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Akbar</dc:creator>
  <cp:lastModifiedBy>Akbar</cp:lastModifiedBy>
  <cp:revision>18</cp:revision>
  <dcterms:created xsi:type="dcterms:W3CDTF">2026-10-05T17:15:14Z</dcterms:created>
  <dcterms:modified xsi:type="dcterms:W3CDTF">2026-10-17T06:13:20Z</dcterms:modified>
</cp:coreProperties>
</file>