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17320"/>
            <a:ext cx="4937760" cy="4937760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38360" y="914400"/>
            <a:ext cx="3200400" cy="3200400"/>
          </a:xfrm>
          <a:prstGeom prst="ellipse">
            <a:avLst/>
          </a:prstGeom>
          <a:solidFill>
            <a:srgbClr val="0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909560" y="4251960"/>
            <a:ext cx="2011680" cy="2011680"/>
          </a:xfrm>
          <a:prstGeom prst="ellipse">
            <a:avLst/>
          </a:prstGeom>
          <a:solidFill>
            <a:srgbClr val="164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94944"/>
            <a:ext cx="67665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C4DE"/>
                </a:solidFill>
                <a:latin typeface="Aptos"/>
              </a:rPr>
              <a:t>SMART SHOWER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6858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 Display"/>
              </a:rPr>
              <a:t>Water Conservation</a:t>
            </a:r>
            <a:br/>
            <a:r>
              <a:t>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880360"/>
            <a:ext cx="5669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4E7EE"/>
                </a:solidFill>
                <a:latin typeface="Aptos"/>
              </a:rPr>
              <a:t>A responsive foam-board prototype that makes shower demand visible and encourages lower water and energy use.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160520"/>
            <a:ext cx="1874519" cy="502920"/>
          </a:xfrm>
          <a:prstGeom prst="round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4297680"/>
            <a:ext cx="166420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ESP32 WROOM-32D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4160520"/>
            <a:ext cx="1536192" cy="502920"/>
          </a:xfrm>
          <a:prstGeom prst="roundRect">
            <a:avLst/>
          </a:prstGeom>
          <a:solidFill>
            <a:srgbClr val="1F5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297680"/>
            <a:ext cx="13533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LIVE DEMO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1444752"/>
            <a:ext cx="3520440" cy="4096512"/>
          </a:xfrm>
          <a:prstGeom prst="roundRect">
            <a:avLst/>
          </a:prstGeom>
          <a:solidFill>
            <a:srgbClr val="EB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1682496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C2339"/>
                </a:solidFill>
                <a:latin typeface="Aptos"/>
              </a:rPr>
              <a:t>FOAM-BOARD CONTROL PANEL</a:t>
            </a:r>
          </a:p>
        </p:txBody>
      </p:sp>
      <p:sp>
        <p:nvSpPr>
          <p:cNvPr id="15" name="Oval 14"/>
          <p:cNvSpPr/>
          <p:nvPr/>
        </p:nvSpPr>
        <p:spPr>
          <a:xfrm>
            <a:off x="7973568" y="2258568"/>
            <a:ext cx="777240" cy="777240"/>
          </a:xfrm>
          <a:prstGeom prst="ellipse">
            <a:avLst/>
          </a:prstGeom>
          <a:solidFill>
            <a:srgbClr val="EF7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46920" y="2258568"/>
            <a:ext cx="777240" cy="777240"/>
          </a:xfrm>
          <a:prstGeom prst="ellipse">
            <a:avLst/>
          </a:prstGeom>
          <a:solidFill>
            <a:srgbClr val="377A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3127248"/>
            <a:ext cx="822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C2339"/>
                </a:solidFill>
                <a:latin typeface="Aptos"/>
              </a:rPr>
              <a:t>HOT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3127248"/>
            <a:ext cx="868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C2339"/>
                </a:solidFill>
                <a:latin typeface="Aptos"/>
              </a:rPr>
              <a:t>COLD</a:t>
            </a:r>
          </a:p>
        </p:txBody>
      </p:sp>
      <p:sp>
        <p:nvSpPr>
          <p:cNvPr id="19" name="Oval 18"/>
          <p:cNvSpPr/>
          <p:nvPr/>
        </p:nvSpPr>
        <p:spPr>
          <a:xfrm>
            <a:off x="7891272" y="3822191"/>
            <a:ext cx="210312" cy="210312"/>
          </a:xfrm>
          <a:prstGeom prst="ellipse">
            <a:avLst/>
          </a:prstGeom>
          <a:solidFill>
            <a:srgbClr val="22A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38744" y="3822191"/>
            <a:ext cx="210312" cy="210312"/>
          </a:xfrm>
          <a:prstGeom prst="ellipse">
            <a:avLst/>
          </a:prstGeom>
          <a:solidFill>
            <a:srgbClr val="22A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86216" y="3822191"/>
            <a:ext cx="210312" cy="210312"/>
          </a:xfrm>
          <a:prstGeom prst="ellipse">
            <a:avLst/>
          </a:prstGeom>
          <a:solidFill>
            <a:srgbClr val="F4A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33688" y="3822191"/>
            <a:ext cx="210312" cy="210312"/>
          </a:xfrm>
          <a:prstGeom prst="ellipse">
            <a:avLst/>
          </a:prstGeom>
          <a:solidFill>
            <a:srgbClr val="F4A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81160" y="3822191"/>
            <a:ext cx="210312" cy="210312"/>
          </a:xfrm>
          <a:prstGeom prst="ellipse">
            <a:avLst/>
          </a:prstGeom>
          <a:solidFill>
            <a:srgbClr val="EF7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28632" y="3822191"/>
            <a:ext cx="210312" cy="210312"/>
          </a:xfrm>
          <a:prstGeom prst="ellipse">
            <a:avLst/>
          </a:prstGeom>
          <a:solidFill>
            <a:srgbClr val="D33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76104" y="3822191"/>
            <a:ext cx="210312" cy="210312"/>
          </a:xfrm>
          <a:prstGeom prst="ellipse">
            <a:avLst/>
          </a:prstGeom>
          <a:solidFill>
            <a:srgbClr val="D33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323576" y="3822191"/>
            <a:ext cx="210312" cy="210312"/>
          </a:xfrm>
          <a:prstGeom prst="ellipse">
            <a:avLst/>
          </a:prstGeom>
          <a:solidFill>
            <a:srgbClr val="D33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20" y="416052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E707C"/>
                </a:solidFill>
                <a:latin typeface="Aptos"/>
              </a:rPr>
              <a:t>status ring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73568" y="4590288"/>
            <a:ext cx="2578608" cy="438912"/>
          </a:xfrm>
          <a:prstGeom prst="roundRect">
            <a:avLst/>
          </a:prstGeom>
          <a:solidFill>
            <a:srgbClr val="0C2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92440" y="4718304"/>
            <a:ext cx="234086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TIMED FLOW 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144768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0C0CC"/>
                </a:solidFill>
                <a:latin typeface="Aptos"/>
              </a:rPr>
              <a:t>Competition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09999"/>
                </a:solidFill>
                <a:latin typeface="Apto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47472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999"/>
                </a:solidFill>
                <a:latin typeface="Aptos"/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C2339"/>
                </a:solidFill>
                <a:latin typeface="Aptos Display"/>
              </a:rPr>
              <a:t>Water waste is often invisible in the moment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25296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E707C"/>
                </a:solidFill>
                <a:latin typeface="Aptos"/>
              </a:rPr>
              <a:t>The prototype makes time, demand, and conservation feedback easy to see.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627632"/>
            <a:ext cx="11155680" cy="0"/>
          </a:xfrm>
          <a:prstGeom prst="line">
            <a:avLst/>
          </a:prstGeom>
          <a:ln w="10160">
            <a:solidFill>
              <a:srgbClr val="CFDF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2057400"/>
            <a:ext cx="3429000" cy="2651760"/>
          </a:xfrm>
          <a:prstGeom prst="roundRect">
            <a:avLst/>
          </a:prstGeom>
          <a:solidFill>
            <a:srgbClr val="F6FAFB"/>
          </a:solidFill>
          <a:ln>
            <a:solidFill>
              <a:srgbClr val="CF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3429000" cy="10972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42316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9999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83464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C2339"/>
                </a:solidFill>
                <a:latin typeface="Aptos Display"/>
              </a:rPr>
              <a:t>Long sessions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346704"/>
            <a:ext cx="2788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E707C"/>
                </a:solidFill>
                <a:latin typeface="Aptos"/>
              </a:rPr>
              <a:t>The user has little live feedback while time and water use keep increasing.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62272" y="2057400"/>
            <a:ext cx="3429000" cy="2651760"/>
          </a:xfrm>
          <a:prstGeom prst="roundRect">
            <a:avLst/>
          </a:prstGeom>
          <a:solidFill>
            <a:srgbClr val="F6FAFB"/>
          </a:solidFill>
          <a:ln>
            <a:solidFill>
              <a:srgbClr val="CF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62272" y="2057400"/>
            <a:ext cx="3429000" cy="109728"/>
          </a:xfrm>
          <a:prstGeom prst="rect">
            <a:avLst/>
          </a:prstGeom>
          <a:solidFill>
            <a:srgbClr val="EF7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18304" y="242316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F742D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8304" y="283464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C2339"/>
                </a:solidFill>
                <a:latin typeface="Aptos Display"/>
              </a:rPr>
              <a:t>Hot-water energy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8304" y="3346704"/>
            <a:ext cx="2788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E707C"/>
                </a:solidFill>
                <a:latin typeface="Aptos"/>
              </a:rPr>
              <a:t>Higher hot demand also represents energy used to heat the water.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84463" y="2057400"/>
            <a:ext cx="3429000" cy="2651760"/>
          </a:xfrm>
          <a:prstGeom prst="roundRect">
            <a:avLst/>
          </a:prstGeom>
          <a:solidFill>
            <a:srgbClr val="F6FAFB"/>
          </a:solidFill>
          <a:ln>
            <a:solidFill>
              <a:srgbClr val="CF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84463" y="2057400"/>
            <a:ext cx="3429000" cy="109728"/>
          </a:xfrm>
          <a:prstGeom prst="rect">
            <a:avLst/>
          </a:prstGeom>
          <a:solidFill>
            <a:srgbClr val="D33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0495" y="242316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D33E47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0495" y="283464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C2339"/>
                </a:solidFill>
                <a:latin typeface="Aptos Display"/>
              </a:rPr>
              <a:t>Late intervention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0495" y="3346704"/>
            <a:ext cx="2788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E707C"/>
                </a:solidFill>
                <a:latin typeface="Aptos"/>
              </a:rPr>
              <a:t>A sudden shutoff is frustrating. Early prompts allow behaviour to change first.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230368"/>
            <a:ext cx="10927080" cy="685800"/>
          </a:xfrm>
          <a:prstGeom prst="roundRect">
            <a:avLst/>
          </a:prstGeom>
          <a:solidFill>
            <a:srgbClr val="DA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449824"/>
            <a:ext cx="10424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C2339"/>
                </a:solidFill>
                <a:latin typeface="Aptos"/>
              </a:rPr>
              <a:t>Design principle: inform first, then restrict gradually only when the configured limit is exceeded.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6473952"/>
            <a:ext cx="11155680" cy="0"/>
          </a:xfrm>
          <a:prstGeom prst="line">
            <a:avLst/>
          </a:prstGeom>
          <a:ln w="10160">
            <a:solidFill>
              <a:srgbClr val="CFDF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2920" y="655624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E707C"/>
                </a:solidFill>
                <a:latin typeface="Aptos"/>
              </a:rPr>
              <a:t>SMART SHOWER WATER CONSERVATION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556248"/>
            <a:ext cx="4160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E707C"/>
                </a:solidFill>
                <a:latin typeface="Aptos"/>
              </a:rPr>
              <a:t>FOAM-BOARD COMPETITION PROTOTYPE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09999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47472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999"/>
                </a:solidFill>
                <a:latin typeface="Aptos"/>
              </a:rPr>
              <a:t>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C2339"/>
                </a:solidFill>
                <a:latin typeface="Aptos Display"/>
              </a:rPr>
              <a:t>A safe, visual model of a smart shower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25296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E707C"/>
                </a:solidFill>
                <a:latin typeface="Aptos"/>
              </a:rPr>
              <a:t>This is a foam-board simulation. It demonstrates logic and interaction, not real plumbing control.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627632"/>
            <a:ext cx="11155680" cy="0"/>
          </a:xfrm>
          <a:prstGeom prst="line">
            <a:avLst/>
          </a:prstGeom>
          <a:ln w="10160">
            <a:solidFill>
              <a:srgbClr val="CFDF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914400" y="2148840"/>
            <a:ext cx="1097280" cy="1097280"/>
          </a:xfrm>
          <a:prstGeom prst="ellipse">
            <a:avLst/>
          </a:prstGeom>
          <a:solidFill>
            <a:srgbClr val="EF7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496312"/>
            <a:ext cx="9509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HOT</a:t>
            </a:r>
            <a:br/>
            <a:r>
              <a:t>POT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447288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E707C"/>
                </a:solidFill>
                <a:latin typeface="Aptos"/>
              </a:rPr>
              <a:t>Sets hot flow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57400" y="2697480"/>
            <a:ext cx="777240" cy="0"/>
          </a:xfrm>
          <a:prstGeom prst="line">
            <a:avLst/>
          </a:prstGeom>
          <a:ln w="2540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090672" y="2148840"/>
            <a:ext cx="1097280" cy="1097280"/>
          </a:xfrm>
          <a:prstGeom prst="ellipse">
            <a:avLst/>
          </a:prstGeom>
          <a:solidFill>
            <a:srgbClr val="377A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63824" y="2496312"/>
            <a:ext cx="9509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COLD</a:t>
            </a:r>
            <a:br/>
            <a:r>
              <a:t>POT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9503" y="3447288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E707C"/>
                </a:solidFill>
                <a:latin typeface="Aptos"/>
              </a:rPr>
              <a:t>Sets cold flow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33672" y="2697480"/>
            <a:ext cx="777240" cy="0"/>
          </a:xfrm>
          <a:prstGeom prst="line">
            <a:avLst/>
          </a:prstGeom>
          <a:ln w="2540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285232" y="2148840"/>
            <a:ext cx="1097280" cy="1097280"/>
          </a:xfrm>
          <a:prstGeom prst="ellipse">
            <a:avLst/>
          </a:prstGeom>
          <a:solidFill>
            <a:srgbClr val="0C2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58384" y="2496312"/>
            <a:ext cx="9509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ESP32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4064" y="3447288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E707C"/>
                </a:solidFill>
                <a:latin typeface="Aptos"/>
              </a:rPr>
              <a:t>Calculates demand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28232" y="2697480"/>
            <a:ext cx="777240" cy="0"/>
          </a:xfrm>
          <a:prstGeom prst="line">
            <a:avLst/>
          </a:prstGeom>
          <a:ln w="2540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479792" y="2148840"/>
            <a:ext cx="1097280" cy="1097280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2944" y="2496312"/>
            <a:ext cx="9509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LED</a:t>
            </a:r>
            <a:br/>
            <a:r>
              <a:t>FEEDBACK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78624" y="3447288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E707C"/>
                </a:solidFill>
                <a:latin typeface="Aptos"/>
              </a:rPr>
              <a:t>Shows status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622792" y="2697480"/>
            <a:ext cx="777240" cy="0"/>
          </a:xfrm>
          <a:prstGeom prst="line">
            <a:avLst/>
          </a:prstGeom>
          <a:ln w="2540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674352" y="2148840"/>
            <a:ext cx="1097280" cy="1097280"/>
          </a:xfrm>
          <a:prstGeom prst="ellipse">
            <a:avLst/>
          </a:prstGeom>
          <a:solidFill>
            <a:srgbClr val="22A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47504" y="2496312"/>
            <a:ext cx="9509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GAUGES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73184" y="3447288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E707C"/>
                </a:solidFill>
                <a:latin typeface="Aptos"/>
              </a:rPr>
              <a:t>Shows flow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663440"/>
            <a:ext cx="10378440" cy="841248"/>
          </a:xfrm>
          <a:prstGeom prst="roundRect">
            <a:avLst/>
          </a:prstGeom>
          <a:solidFill>
            <a:srgbClr val="F6FAFB"/>
          </a:solidFill>
          <a:ln>
            <a:solidFill>
              <a:srgbClr val="CF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07008" y="4910328"/>
            <a:ext cx="9784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1C3242"/>
                </a:solidFill>
                <a:latin typeface="Aptos"/>
              </a:rPr>
              <a:t>Two potentiometers model the tap settings. The ESP32 blends them into a simulated temperature, demand level, conservation score, light feedback, and servo gauge positions.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2920" y="6473952"/>
            <a:ext cx="11155680" cy="0"/>
          </a:xfrm>
          <a:prstGeom prst="line">
            <a:avLst/>
          </a:prstGeom>
          <a:ln w="10160">
            <a:solidFill>
              <a:srgbClr val="CFDF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2920" y="655624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E707C"/>
                </a:solidFill>
                <a:latin typeface="Aptos"/>
              </a:rPr>
              <a:t>SMART SHOWER WATER CONSERVATION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556248"/>
            <a:ext cx="4160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E707C"/>
                </a:solidFill>
                <a:latin typeface="Aptos"/>
              </a:rPr>
              <a:t>FOAM-BOARD COMPETITION PROTOTYPE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09999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47472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999"/>
                </a:solidFill>
                <a:latin typeface="Aptos"/>
              </a:rPr>
              <a:t>CONTROL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C2339"/>
                </a:solidFill>
                <a:latin typeface="Aptos Display"/>
              </a:rPr>
              <a:t>The decision-making sequence runs continuously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25296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E707C"/>
                </a:solidFill>
                <a:latin typeface="Aptos"/>
              </a:rPr>
              <a:t>Each control update is fast, non-blocking, and visible on the prototype.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627632"/>
            <a:ext cx="11155680" cy="0"/>
          </a:xfrm>
          <a:prstGeom prst="line">
            <a:avLst/>
          </a:prstGeom>
          <a:ln w="10160">
            <a:solidFill>
              <a:srgbClr val="CFDF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2240280"/>
            <a:ext cx="1874519" cy="1828800"/>
          </a:xfrm>
          <a:prstGeom prst="roundRect">
            <a:avLst/>
          </a:prstGeom>
          <a:solidFill>
            <a:srgbClr val="F6FAFB"/>
          </a:solidFill>
          <a:ln>
            <a:solidFill>
              <a:srgbClr val="CF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98448" y="2487168"/>
            <a:ext cx="566928" cy="566928"/>
          </a:xfrm>
          <a:prstGeom prst="ellipse">
            <a:avLst/>
          </a:prstGeom>
          <a:solidFill>
            <a:srgbClr val="0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98448" y="2633472"/>
            <a:ext cx="5669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246120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C2339"/>
                </a:solidFill>
                <a:latin typeface="Aptos"/>
              </a:rPr>
              <a:t>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3602736"/>
            <a:ext cx="158191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E707C"/>
                </a:solidFill>
                <a:latin typeface="Aptos"/>
              </a:rPr>
              <a:t>Hot + cold</a:t>
            </a:r>
            <a:br/>
            <a:r>
              <a:t>controls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42032" y="3154680"/>
            <a:ext cx="274320" cy="0"/>
          </a:xfrm>
          <a:prstGeom prst="line">
            <a:avLst/>
          </a:prstGeom>
          <a:ln w="2286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07791" y="2240280"/>
            <a:ext cx="1874519" cy="1828800"/>
          </a:xfrm>
          <a:prstGeom prst="roundRect">
            <a:avLst/>
          </a:prstGeom>
          <a:solidFill>
            <a:srgbClr val="F6FAFB"/>
          </a:solidFill>
          <a:ln>
            <a:solidFill>
              <a:srgbClr val="CF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66159" y="2487168"/>
            <a:ext cx="566928" cy="566928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59" y="2633472"/>
            <a:ext cx="5669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3246120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C2339"/>
                </a:solidFill>
                <a:latin typeface="Aptos"/>
              </a:rPr>
              <a:t>Calculate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4096" y="3602736"/>
            <a:ext cx="158191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E707C"/>
                </a:solidFill>
                <a:latin typeface="Aptos"/>
              </a:rPr>
              <a:t>Demand +</a:t>
            </a:r>
            <a:br/>
            <a:r>
              <a:t>temperature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09744" y="3154680"/>
            <a:ext cx="274320" cy="0"/>
          </a:xfrm>
          <a:prstGeom prst="line">
            <a:avLst/>
          </a:prstGeom>
          <a:ln w="2286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75504" y="2240280"/>
            <a:ext cx="1874519" cy="1828800"/>
          </a:xfrm>
          <a:prstGeom prst="roundRect">
            <a:avLst/>
          </a:prstGeom>
          <a:solidFill>
            <a:srgbClr val="F6FAFB"/>
          </a:solidFill>
          <a:ln>
            <a:solidFill>
              <a:srgbClr val="CF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33872" y="2487168"/>
            <a:ext cx="566928" cy="566928"/>
          </a:xfrm>
          <a:prstGeom prst="ellipse">
            <a:avLst/>
          </a:prstGeom>
          <a:solidFill>
            <a:srgbClr val="F4A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33872" y="2633472"/>
            <a:ext cx="5669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4" y="3246120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C2339"/>
                </a:solidFill>
                <a:latin typeface="Aptos"/>
              </a:rPr>
              <a:t>Assess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1808" y="3602736"/>
            <a:ext cx="158191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E707C"/>
                </a:solidFill>
                <a:latin typeface="Aptos"/>
              </a:rPr>
              <a:t>Time limit +</a:t>
            </a:r>
            <a:br/>
            <a:r>
              <a:t>score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7456" y="3154680"/>
            <a:ext cx="274319" cy="0"/>
          </a:xfrm>
          <a:prstGeom prst="line">
            <a:avLst/>
          </a:prstGeom>
          <a:ln w="2286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443215" y="2240280"/>
            <a:ext cx="1874519" cy="1828800"/>
          </a:xfrm>
          <a:prstGeom prst="roundRect">
            <a:avLst/>
          </a:prstGeom>
          <a:solidFill>
            <a:srgbClr val="F6FAFB"/>
          </a:solidFill>
          <a:ln>
            <a:solidFill>
              <a:srgbClr val="CF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101583" y="2487168"/>
            <a:ext cx="566928" cy="566928"/>
          </a:xfrm>
          <a:prstGeom prst="ellipse">
            <a:avLst/>
          </a:prstGeom>
          <a:solidFill>
            <a:srgbClr val="22A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01583" y="2633472"/>
            <a:ext cx="5669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6095" y="3246120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C2339"/>
                </a:solidFill>
                <a:latin typeface="Aptos"/>
              </a:rPr>
              <a:t>Respond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19" y="3602736"/>
            <a:ext cx="158191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E707C"/>
                </a:solidFill>
                <a:latin typeface="Aptos"/>
              </a:rPr>
              <a:t>LEDs +</a:t>
            </a:r>
            <a:br/>
            <a:r>
              <a:t>gauges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345167" y="3154680"/>
            <a:ext cx="274321" cy="0"/>
          </a:xfrm>
          <a:prstGeom prst="line">
            <a:avLst/>
          </a:prstGeom>
          <a:ln w="2286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710928" y="2240280"/>
            <a:ext cx="1874519" cy="1828800"/>
          </a:xfrm>
          <a:prstGeom prst="roundRect">
            <a:avLst/>
          </a:prstGeom>
          <a:solidFill>
            <a:srgbClr val="F6FAFB"/>
          </a:solidFill>
          <a:ln>
            <a:solidFill>
              <a:srgbClr val="CF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369296" y="2487168"/>
            <a:ext cx="566928" cy="566928"/>
          </a:xfrm>
          <a:prstGeom prst="ellipse">
            <a:avLst/>
          </a:prstGeom>
          <a:solidFill>
            <a:srgbClr val="D33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69296" y="2633472"/>
            <a:ext cx="5669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3807" y="3246120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C2339"/>
                </a:solidFill>
                <a:latin typeface="Aptos"/>
              </a:rPr>
              <a:t>Restrict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57232" y="3602736"/>
            <a:ext cx="158191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E707C"/>
                </a:solidFill>
                <a:latin typeface="Aptos"/>
              </a:rPr>
              <a:t>If over</a:t>
            </a:r>
            <a:br/>
            <a:r>
              <a:t>limit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157984" y="4828032"/>
            <a:ext cx="7818120" cy="548640"/>
          </a:xfrm>
          <a:prstGeom prst="roundRect">
            <a:avLst/>
          </a:prstGeom>
          <a:solidFill>
            <a:srgbClr val="DA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04872" y="501091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C2339"/>
                </a:solidFill>
                <a:latin typeface="Aptos"/>
              </a:rPr>
              <a:t>The system avoids abrupt behaviour: it gives clear feedback before applying any simulated reduction.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02920" y="6473952"/>
            <a:ext cx="11155680" cy="0"/>
          </a:xfrm>
          <a:prstGeom prst="line">
            <a:avLst/>
          </a:prstGeom>
          <a:ln w="10160">
            <a:solidFill>
              <a:srgbClr val="CFDF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02920" y="655624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E707C"/>
                </a:solidFill>
                <a:latin typeface="Aptos"/>
              </a:rPr>
              <a:t>SMART SHOWER WATER CONSERVATION SYSTEM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79" y="6556248"/>
            <a:ext cx="4160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E707C"/>
                </a:solidFill>
                <a:latin typeface="Aptos"/>
              </a:rPr>
              <a:t>FOAM-BOARD COMPETITION PROTOTYPE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09999"/>
                </a:solidFill>
                <a:latin typeface="Apto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47472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999"/>
                </a:solidFill>
                <a:latin typeface="Aptos"/>
              </a:rPr>
              <a:t>LIVE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C2339"/>
                </a:solidFill>
                <a:latin typeface="Aptos Display"/>
              </a:rPr>
              <a:t>One glance communicates the current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25296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E707C"/>
                </a:solidFill>
                <a:latin typeface="Aptos"/>
              </a:rPr>
              <a:t>The LEDs provide a readable signal while the gauges show controlled hot and cold flow.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627632"/>
            <a:ext cx="11155680" cy="0"/>
          </a:xfrm>
          <a:prstGeom prst="line">
            <a:avLst/>
          </a:prstGeom>
          <a:ln w="10160">
            <a:solidFill>
              <a:srgbClr val="CFDF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234440" y="2322576"/>
            <a:ext cx="685800" cy="685800"/>
          </a:xfrm>
          <a:prstGeom prst="ellipse">
            <a:avLst/>
          </a:prstGeom>
          <a:solidFill>
            <a:srgbClr val="22A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236976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C2339"/>
                </a:solidFill>
                <a:latin typeface="Aptos"/>
              </a:rPr>
              <a:t>Efficient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59359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E707C"/>
                </a:solidFill>
                <a:latin typeface="Aptos"/>
              </a:rPr>
              <a:t>Within target</a:t>
            </a:r>
          </a:p>
        </p:txBody>
      </p:sp>
      <p:sp>
        <p:nvSpPr>
          <p:cNvPr id="10" name="Oval 9"/>
          <p:cNvSpPr/>
          <p:nvPr/>
        </p:nvSpPr>
        <p:spPr>
          <a:xfrm>
            <a:off x="3538728" y="2322576"/>
            <a:ext cx="685800" cy="685800"/>
          </a:xfrm>
          <a:prstGeom prst="ellipse">
            <a:avLst/>
          </a:prstGeom>
          <a:solidFill>
            <a:srgbClr val="F4A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2656" y="3236976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C2339"/>
                </a:solidFill>
                <a:latin typeface="Aptos"/>
              </a:rPr>
              <a:t>Caution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62656" y="359359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E707C"/>
                </a:solidFill>
                <a:latin typeface="Aptos"/>
              </a:rPr>
              <a:t>Approaching limit</a:t>
            </a:r>
          </a:p>
        </p:txBody>
      </p:sp>
      <p:sp>
        <p:nvSpPr>
          <p:cNvPr id="13" name="Oval 12"/>
          <p:cNvSpPr/>
          <p:nvPr/>
        </p:nvSpPr>
        <p:spPr>
          <a:xfrm>
            <a:off x="5843016" y="2322576"/>
            <a:ext cx="685800" cy="685800"/>
          </a:xfrm>
          <a:prstGeom prst="ellipse">
            <a:avLst/>
          </a:prstGeom>
          <a:solidFill>
            <a:srgbClr val="EF7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66944" y="3236976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C2339"/>
                </a:solidFill>
                <a:latin typeface="Aptos"/>
              </a:rPr>
              <a:t>Warning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66944" y="359359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E707C"/>
                </a:solidFill>
                <a:latin typeface="Aptos"/>
              </a:rPr>
              <a:t>Reduce demand</a:t>
            </a:r>
          </a:p>
        </p:txBody>
      </p:sp>
      <p:sp>
        <p:nvSpPr>
          <p:cNvPr id="16" name="Oval 15"/>
          <p:cNvSpPr/>
          <p:nvPr/>
        </p:nvSpPr>
        <p:spPr>
          <a:xfrm>
            <a:off x="8147304" y="2322576"/>
            <a:ext cx="685800" cy="685800"/>
          </a:xfrm>
          <a:prstGeom prst="ellipse">
            <a:avLst/>
          </a:prstGeom>
          <a:solidFill>
            <a:srgbClr val="377A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71232" y="3236976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C2339"/>
                </a:solidFill>
                <a:latin typeface="Aptos"/>
              </a:rPr>
              <a:t>Pause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71232" y="359359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E707C"/>
                </a:solidFill>
                <a:latin typeface="Aptos"/>
              </a:rPr>
              <a:t>Soap or shampoo</a:t>
            </a:r>
          </a:p>
        </p:txBody>
      </p:sp>
      <p:sp>
        <p:nvSpPr>
          <p:cNvPr id="19" name="Oval 18"/>
          <p:cNvSpPr/>
          <p:nvPr/>
        </p:nvSpPr>
        <p:spPr>
          <a:xfrm>
            <a:off x="10451592" y="2322576"/>
            <a:ext cx="685800" cy="685800"/>
          </a:xfrm>
          <a:prstGeom prst="ellipse">
            <a:avLst/>
          </a:prstGeom>
          <a:solidFill>
            <a:srgbClr val="D33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0" y="3236976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C2339"/>
                </a:solidFill>
                <a:latin typeface="Aptos"/>
              </a:rPr>
              <a:t>Limit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359359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E707C"/>
                </a:solidFill>
                <a:latin typeface="Aptos"/>
              </a:rPr>
              <a:t>Restriction active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4617720"/>
            <a:ext cx="4343400" cy="822960"/>
          </a:xfrm>
          <a:prstGeom prst="roundRect">
            <a:avLst/>
          </a:prstGeom>
          <a:solidFill>
            <a:srgbClr val="F6FAFB"/>
          </a:solidFill>
          <a:ln>
            <a:solidFill>
              <a:srgbClr val="CF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98448" y="4800600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999"/>
                </a:solidFill>
                <a:latin typeface="Aptos"/>
              </a:rPr>
              <a:t>TEMPERATURE BAR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80360" y="4800600"/>
            <a:ext cx="182880" cy="256032"/>
          </a:xfrm>
          <a:prstGeom prst="roundRect">
            <a:avLst/>
          </a:prstGeom>
          <a:solidFill>
            <a:srgbClr val="377A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136391" y="4800600"/>
            <a:ext cx="182880" cy="256032"/>
          </a:xfrm>
          <a:prstGeom prst="roundRect">
            <a:avLst/>
          </a:prstGeom>
          <a:solidFill>
            <a:srgbClr val="377A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392424" y="4800600"/>
            <a:ext cx="182880" cy="256032"/>
          </a:xfrm>
          <a:prstGeom prst="roundRect">
            <a:avLst/>
          </a:prstGeom>
          <a:solidFill>
            <a:srgbClr val="377A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648456" y="4800600"/>
            <a:ext cx="182880" cy="256032"/>
          </a:xfrm>
          <a:prstGeom prst="roundRect">
            <a:avLst/>
          </a:prstGeom>
          <a:solidFill>
            <a:srgbClr val="EF7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904487" y="4800600"/>
            <a:ext cx="182880" cy="256032"/>
          </a:xfrm>
          <a:prstGeom prst="roundRect">
            <a:avLst/>
          </a:prstGeom>
          <a:solidFill>
            <a:srgbClr val="EF7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160520" y="4800600"/>
            <a:ext cx="182880" cy="256032"/>
          </a:xfrm>
          <a:prstGeom prst="roundRect">
            <a:avLst/>
          </a:prstGeom>
          <a:solidFill>
            <a:srgbClr val="EF7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416552" y="4800600"/>
            <a:ext cx="182880" cy="256032"/>
          </a:xfrm>
          <a:prstGeom prst="roundRect">
            <a:avLst/>
          </a:prstGeom>
          <a:solidFill>
            <a:srgbClr val="EF7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672584" y="4800600"/>
            <a:ext cx="182880" cy="256032"/>
          </a:xfrm>
          <a:prstGeom prst="roundRect">
            <a:avLst/>
          </a:prstGeom>
          <a:solidFill>
            <a:srgbClr val="EF7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98448" y="5102352"/>
            <a:ext cx="374903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E707C"/>
                </a:solidFill>
                <a:latin typeface="Aptos"/>
              </a:rPr>
              <a:t>Simulated mixed-water temperature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20840" y="4617720"/>
            <a:ext cx="4343400" cy="822960"/>
          </a:xfrm>
          <a:prstGeom prst="roundRect">
            <a:avLst/>
          </a:prstGeom>
          <a:solidFill>
            <a:srgbClr val="F6FAFB"/>
          </a:solidFill>
          <a:ln>
            <a:solidFill>
              <a:srgbClr val="CF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67728" y="4800600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999"/>
                </a:solidFill>
                <a:latin typeface="Aptos"/>
              </a:rPr>
              <a:t>FLOW GAUGES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8805672" y="4736592"/>
            <a:ext cx="932688" cy="329184"/>
          </a:xfrm>
          <a:prstGeom prst="line">
            <a:avLst/>
          </a:prstGeom>
          <a:ln w="27940">
            <a:solidFill>
              <a:srgbClr val="EF74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9994392" y="4892040"/>
            <a:ext cx="566928" cy="173736"/>
          </a:xfrm>
          <a:prstGeom prst="line">
            <a:avLst/>
          </a:prstGeom>
          <a:ln w="27940">
            <a:solidFill>
              <a:srgbClr val="377A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967728" y="5102352"/>
            <a:ext cx="374903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E707C"/>
                </a:solidFill>
                <a:latin typeface="Aptos"/>
              </a:rPr>
              <a:t>Separate hot and cold flow indications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02920" y="6473952"/>
            <a:ext cx="11155680" cy="0"/>
          </a:xfrm>
          <a:prstGeom prst="line">
            <a:avLst/>
          </a:prstGeom>
          <a:ln w="10160">
            <a:solidFill>
              <a:srgbClr val="CFDF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02920" y="655624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E707C"/>
                </a:solidFill>
                <a:latin typeface="Aptos"/>
              </a:rPr>
              <a:t>SMART SHOWER WATER CONSERVATION SYSTEM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79" y="6556248"/>
            <a:ext cx="4160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E707C"/>
                </a:solidFill>
                <a:latin typeface="Aptos"/>
              </a:rPr>
              <a:t>FOAM-BOARD COMPETITION PROTOTYPE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09999"/>
                </a:solidFill>
                <a:latin typeface="Apto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47472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999"/>
                </a:solidFill>
                <a:latin typeface="Aptos"/>
              </a:rPr>
              <a:t>CONSERVATION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C2339"/>
                </a:solidFill>
                <a:latin typeface="Aptos Display"/>
              </a:rPr>
              <a:t>A staged response rewards earlier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25296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E707C"/>
                </a:solidFill>
                <a:latin typeface="Aptos"/>
              </a:rPr>
              <a:t>Short thresholds are used for a competition demonstration and can be extended for normal use.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627632"/>
            <a:ext cx="11155680" cy="0"/>
          </a:xfrm>
          <a:prstGeom prst="line">
            <a:avLst/>
          </a:prstGeom>
          <a:ln w="10160">
            <a:solidFill>
              <a:srgbClr val="CFDF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21792" y="2542032"/>
            <a:ext cx="3154680" cy="1481328"/>
          </a:xfrm>
          <a:prstGeom prst="roundRect">
            <a:avLst/>
          </a:prstGeom>
          <a:solidFill>
            <a:srgbClr val="22A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816352"/>
            <a:ext cx="2825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0-45 sec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3163824"/>
            <a:ext cx="286207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EFFICIENT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502152"/>
            <a:ext cx="28620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ptos"/>
              </a:rPr>
              <a:t>100% 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9624" y="2542032"/>
            <a:ext cx="1554480" cy="1481328"/>
          </a:xfrm>
          <a:prstGeom prst="roundRect">
            <a:avLst/>
          </a:prstGeom>
          <a:solidFill>
            <a:srgbClr val="F4A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14215" y="2816352"/>
            <a:ext cx="1225295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45-60 sec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95928" y="3163824"/>
            <a:ext cx="126187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CAUTION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95928" y="3502152"/>
            <a:ext cx="12618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ptos"/>
              </a:rPr>
              <a:t>80% 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77256" y="2542032"/>
            <a:ext cx="1783080" cy="1481328"/>
          </a:xfrm>
          <a:prstGeom prst="roundRect">
            <a:avLst/>
          </a:prstGeom>
          <a:solidFill>
            <a:srgbClr val="EF7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41848" y="2816352"/>
            <a:ext cx="1453895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60-75 sec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3163824"/>
            <a:ext cx="149047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WARNING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3502152"/>
            <a:ext cx="1490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ptos"/>
              </a:rPr>
              <a:t>80% to 40%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33488" y="2542032"/>
            <a:ext cx="2194560" cy="1481328"/>
          </a:xfrm>
          <a:prstGeom prst="roundRect">
            <a:avLst/>
          </a:prstGeom>
          <a:solidFill>
            <a:srgbClr val="D33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2816352"/>
            <a:ext cx="186537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75-95 sec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9792" y="3163824"/>
            <a:ext cx="190195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LIMIT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9792" y="3502152"/>
            <a:ext cx="190195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ptos"/>
              </a:rPr>
              <a:t>40% to 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0" y="2542032"/>
            <a:ext cx="1828800" cy="1481328"/>
          </a:xfrm>
          <a:prstGeom prst="roundRect">
            <a:avLst/>
          </a:prstGeom>
          <a:solidFill>
            <a:srgbClr val="0C2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65792" y="2816352"/>
            <a:ext cx="149961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95 sec+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47504" y="3163824"/>
            <a:ext cx="153619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STOP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47504" y="3502152"/>
            <a:ext cx="15361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ptos"/>
              </a:rPr>
              <a:t>0% 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663440"/>
            <a:ext cx="9784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C3242"/>
                </a:solidFill>
                <a:latin typeface="Aptos"/>
              </a:rPr>
              <a:t>At every stage, the system makes the change obvious through LEDs, gauges, and shower animation speed.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2920" y="6473952"/>
            <a:ext cx="11155680" cy="0"/>
          </a:xfrm>
          <a:prstGeom prst="line">
            <a:avLst/>
          </a:prstGeom>
          <a:ln w="10160">
            <a:solidFill>
              <a:srgbClr val="CFDF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2920" y="655624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E707C"/>
                </a:solidFill>
                <a:latin typeface="Aptos"/>
              </a:rPr>
              <a:t>SMART SHOWER WATER CONSERVATION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556248"/>
            <a:ext cx="4160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E707C"/>
                </a:solidFill>
                <a:latin typeface="Aptos"/>
              </a:rPr>
              <a:t>FOAM-BOARD COMPETITION PROTOTYPE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09999"/>
                </a:solidFill>
                <a:latin typeface="Apto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47472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999"/>
                </a:solidFill>
                <a:latin typeface="Aptos"/>
              </a:rPr>
              <a:t>TECHNICAL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C2339"/>
                </a:solidFill>
                <a:latin typeface="Aptos Display"/>
              </a:rPr>
              <a:t>The final prototype wiring is stable and calibrated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25296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E707C"/>
                </a:solidFill>
                <a:latin typeface="Aptos"/>
              </a:rPr>
              <a:t>All values below correspond to the current ESP32 firmware.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627632"/>
            <a:ext cx="11155680" cy="0"/>
          </a:xfrm>
          <a:prstGeom prst="line">
            <a:avLst/>
          </a:prstGeom>
          <a:ln w="10160">
            <a:solidFill>
              <a:srgbClr val="CFDF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2029968"/>
            <a:ext cx="2286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9999"/>
                </a:solidFill>
                <a:latin typeface="Aptos"/>
              </a:rPr>
              <a:t>WIRING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95728"/>
            <a:ext cx="5138928" cy="566928"/>
          </a:xfrm>
          <a:prstGeom prst="roundRect">
            <a:avLst/>
          </a:prstGeom>
          <a:solidFill>
            <a:srgbClr val="F6FAFB"/>
          </a:solidFill>
          <a:ln>
            <a:solidFill>
              <a:srgbClr val="CF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2560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C2339"/>
                </a:solidFill>
                <a:latin typeface="Aptos"/>
              </a:rPr>
              <a:t>Hot potentiometer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560320"/>
            <a:ext cx="21488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E707C"/>
                </a:solidFill>
                <a:latin typeface="Aptos"/>
              </a:rPr>
              <a:t>GPIO34 | ADC1 input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45536"/>
            <a:ext cx="5138928" cy="566928"/>
          </a:xfrm>
          <a:prstGeom prst="roundRect">
            <a:avLst/>
          </a:prstGeom>
          <a:solidFill>
            <a:srgbClr val="F6FAFB"/>
          </a:solidFill>
          <a:ln>
            <a:solidFill>
              <a:srgbClr val="CF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10128"/>
            <a:ext cx="2560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C2339"/>
                </a:solidFill>
                <a:latin typeface="Aptos"/>
              </a:rPr>
              <a:t>Cold potentiometer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310128"/>
            <a:ext cx="21488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E707C"/>
                </a:solidFill>
                <a:latin typeface="Aptos"/>
              </a:rPr>
              <a:t>GPIO15 | calibrated ADC input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95344"/>
            <a:ext cx="5138928" cy="566928"/>
          </a:xfrm>
          <a:prstGeom prst="roundRect">
            <a:avLst/>
          </a:prstGeom>
          <a:solidFill>
            <a:srgbClr val="F6FAFB"/>
          </a:solidFill>
          <a:ln>
            <a:solidFill>
              <a:srgbClr val="CF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59935"/>
            <a:ext cx="2560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C2339"/>
                </a:solidFill>
                <a:latin typeface="Aptos"/>
              </a:rPr>
              <a:t>Hot-side gauge servo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059935"/>
            <a:ext cx="21488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E707C"/>
                </a:solidFill>
                <a:latin typeface="Aptos"/>
              </a:rPr>
              <a:t>GPIO33 | PWM output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645152"/>
            <a:ext cx="5138928" cy="566928"/>
          </a:xfrm>
          <a:prstGeom prst="roundRect">
            <a:avLst/>
          </a:prstGeom>
          <a:solidFill>
            <a:srgbClr val="F6FAFB"/>
          </a:solidFill>
          <a:ln>
            <a:solidFill>
              <a:srgbClr val="CF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09744"/>
            <a:ext cx="2560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C2339"/>
                </a:solidFill>
                <a:latin typeface="Aptos"/>
              </a:rPr>
              <a:t>Cold-side gauge servo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809744"/>
            <a:ext cx="21488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E707C"/>
                </a:solidFill>
                <a:latin typeface="Aptos"/>
              </a:rPr>
              <a:t>GPIO25 | PWM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029968"/>
            <a:ext cx="2286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9999"/>
                </a:solidFill>
                <a:latin typeface="Aptos"/>
              </a:rPr>
              <a:t>CALIBRATION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2395728"/>
            <a:ext cx="5138928" cy="566928"/>
          </a:xfrm>
          <a:prstGeom prst="roundRect">
            <a:avLst/>
          </a:prstGeom>
          <a:solidFill>
            <a:srgbClr val="F6FAFB"/>
          </a:solidFill>
          <a:ln>
            <a:solidFill>
              <a:srgbClr val="CF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2560320"/>
            <a:ext cx="2560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C2339"/>
                </a:solidFill>
                <a:latin typeface="Aptos"/>
              </a:rPr>
              <a:t>Hot ADC range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0848" y="2560320"/>
            <a:ext cx="21488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E707C"/>
                </a:solidFill>
                <a:latin typeface="Aptos"/>
              </a:rPr>
              <a:t>0 to 3604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27648" y="3145536"/>
            <a:ext cx="5138928" cy="566928"/>
          </a:xfrm>
          <a:prstGeom prst="roundRect">
            <a:avLst/>
          </a:prstGeom>
          <a:solidFill>
            <a:srgbClr val="F6FAFB"/>
          </a:solidFill>
          <a:ln>
            <a:solidFill>
              <a:srgbClr val="CF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3310128"/>
            <a:ext cx="2560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C2339"/>
                </a:solidFill>
                <a:latin typeface="Aptos"/>
              </a:rPr>
              <a:t>Cold ADC range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70848" y="3310128"/>
            <a:ext cx="21488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E707C"/>
                </a:solidFill>
                <a:latin typeface="Aptos"/>
              </a:rPr>
              <a:t>0 to 3610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27648" y="3895344"/>
            <a:ext cx="5138928" cy="566928"/>
          </a:xfrm>
          <a:prstGeom prst="roundRect">
            <a:avLst/>
          </a:prstGeom>
          <a:solidFill>
            <a:srgbClr val="F6FAFB"/>
          </a:solidFill>
          <a:ln>
            <a:solidFill>
              <a:srgbClr val="CF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4059935"/>
            <a:ext cx="2560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C2339"/>
                </a:solidFill>
                <a:latin typeface="Aptos"/>
              </a:rPr>
              <a:t>WS2812 outputs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70848" y="4059935"/>
            <a:ext cx="21488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E707C"/>
                </a:solidFill>
                <a:latin typeface="Aptos"/>
              </a:rPr>
              <a:t>GPIO18 and GPIO17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27648" y="4645152"/>
            <a:ext cx="5138928" cy="566928"/>
          </a:xfrm>
          <a:prstGeom prst="roundRect">
            <a:avLst/>
          </a:prstGeom>
          <a:solidFill>
            <a:srgbClr val="F6FAFB"/>
          </a:solidFill>
          <a:ln>
            <a:solidFill>
              <a:srgbClr val="CF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0528" y="4809744"/>
            <a:ext cx="2560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C2339"/>
                </a:solidFill>
                <a:latin typeface="Aptos"/>
              </a:rPr>
              <a:t>Servo supply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70848" y="4809744"/>
            <a:ext cx="21488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E707C"/>
                </a:solidFill>
                <a:latin typeface="Aptos"/>
              </a:rPr>
              <a:t>External 5 V + common GND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641848"/>
            <a:ext cx="10725912" cy="457200"/>
          </a:xfrm>
          <a:prstGeom prst="roundRect">
            <a:avLst/>
          </a:prstGeom>
          <a:solidFill>
            <a:srgbClr val="DA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788152"/>
            <a:ext cx="101498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C2339"/>
                </a:solidFill>
                <a:latin typeface="Aptos"/>
              </a:rPr>
              <a:t>Calibration is transparent: Serial Monitor reports both raw ADC values at 115200 baud for repeatable tuning.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02920" y="6473952"/>
            <a:ext cx="11155680" cy="0"/>
          </a:xfrm>
          <a:prstGeom prst="line">
            <a:avLst/>
          </a:prstGeom>
          <a:ln w="10160">
            <a:solidFill>
              <a:srgbClr val="CFDF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02920" y="655624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E707C"/>
                </a:solidFill>
                <a:latin typeface="Aptos"/>
              </a:rPr>
              <a:t>SMART SHOWER WATER CONSERVATION SYSTEM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6556248"/>
            <a:ext cx="4160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E707C"/>
                </a:solidFill>
                <a:latin typeface="Aptos"/>
              </a:rPr>
              <a:t>FOAM-BOARD COMPETITION PROTOTYPE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15400" y="-1508760"/>
            <a:ext cx="4206240" cy="4206240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480560"/>
            <a:ext cx="1920240" cy="1920240"/>
          </a:xfrm>
          <a:prstGeom prst="ellipse">
            <a:avLst/>
          </a:prstGeom>
          <a:solidFill>
            <a:srgbClr val="205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841248"/>
            <a:ext cx="2103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C4DE"/>
                </a:solidFill>
                <a:latin typeface="Aptos"/>
              </a:rPr>
              <a:t>THE 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98448"/>
            <a:ext cx="67208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 Display"/>
              </a:rPr>
              <a:t>A smart shower concept</a:t>
            </a:r>
            <a:br/>
            <a:r>
              <a:t>that makes conservation visible.</a:t>
            </a:r>
          </a:p>
        </p:txBody>
      </p:sp>
      <p:sp>
        <p:nvSpPr>
          <p:cNvPr id="7" name="Oval 6"/>
          <p:cNvSpPr/>
          <p:nvPr/>
        </p:nvSpPr>
        <p:spPr>
          <a:xfrm>
            <a:off x="758952" y="3246120"/>
            <a:ext cx="109728" cy="109728"/>
          </a:xfrm>
          <a:prstGeom prst="ellipse">
            <a:avLst/>
          </a:prstGeom>
          <a:solidFill>
            <a:srgbClr val="0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317296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DEEDF2"/>
                </a:solidFill>
                <a:latin typeface="Aptos"/>
              </a:rPr>
              <a:t>Interactive hot and cold controls</a:t>
            </a:r>
          </a:p>
        </p:txBody>
      </p:sp>
      <p:sp>
        <p:nvSpPr>
          <p:cNvPr id="9" name="Oval 8"/>
          <p:cNvSpPr/>
          <p:nvPr/>
        </p:nvSpPr>
        <p:spPr>
          <a:xfrm>
            <a:off x="758952" y="3749039"/>
            <a:ext cx="109728" cy="109728"/>
          </a:xfrm>
          <a:prstGeom prst="ellipse">
            <a:avLst/>
          </a:prstGeom>
          <a:solidFill>
            <a:srgbClr val="0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67588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DEEDF2"/>
                </a:solidFill>
                <a:latin typeface="Aptos"/>
              </a:rPr>
              <a:t>Clear staged conservation feedback</a:t>
            </a:r>
          </a:p>
        </p:txBody>
      </p:sp>
      <p:sp>
        <p:nvSpPr>
          <p:cNvPr id="11" name="Oval 10"/>
          <p:cNvSpPr/>
          <p:nvPr/>
        </p:nvSpPr>
        <p:spPr>
          <a:xfrm>
            <a:off x="758952" y="4251960"/>
            <a:ext cx="109728" cy="109728"/>
          </a:xfrm>
          <a:prstGeom prst="ellipse">
            <a:avLst/>
          </a:prstGeom>
          <a:solidFill>
            <a:srgbClr val="0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1788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DEEDF2"/>
                </a:solidFill>
                <a:latin typeface="Aptos"/>
              </a:rPr>
              <a:t>ESP32-controlled, safe foam-board demonstration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2039112"/>
            <a:ext cx="3337560" cy="2148840"/>
          </a:xfrm>
          <a:prstGeom prst="roundRect">
            <a:avLst/>
          </a:prstGeom>
          <a:solidFill>
            <a:srgbClr val="EB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62672" y="2450592"/>
            <a:ext cx="2724912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0C2339"/>
                </a:solidFill>
                <a:latin typeface="Aptos Display"/>
              </a:rPr>
              <a:t>SMART</a:t>
            </a:r>
            <a:br/>
            <a:r>
              <a:t>SHOWER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71231" y="3310128"/>
            <a:ext cx="2907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09999"/>
                </a:solidFill>
                <a:latin typeface="Aptos"/>
              </a:rPr>
              <a:t>Water. Energy. Awareness.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601675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Shower Water Conservation System</dc:title>
  <dc:subject>Competition prototype presentation</dc:subject>
  <dc:creator>Smart Shower Water Conservation System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